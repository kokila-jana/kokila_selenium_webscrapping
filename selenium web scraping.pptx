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16" r:id="rId4"/>
    <p:sldId id="530" r:id="rId5"/>
    <p:sldId id="531" r:id="rId6"/>
    <p:sldId id="358" r:id="rId7"/>
    <p:sldId id="534" r:id="rId8"/>
    <p:sldId id="284" r:id="rId9"/>
    <p:sldId id="320" r:id="rId10"/>
    <p:sldId id="288" r:id="rId11"/>
    <p:sldId id="535" r:id="rId12"/>
    <p:sldId id="536" r:id="rId13"/>
    <p:sldId id="357" r:id="rId14"/>
    <p:sldId id="349" r:id="rId15"/>
    <p:sldId id="537" r:id="rId16"/>
    <p:sldId id="258" r:id="rId17"/>
    <p:sldId id="259" r:id="rId18"/>
    <p:sldId id="532" r:id="rId19"/>
    <p:sldId id="533" r:id="rId20"/>
    <p:sldId id="260" r:id="rId21"/>
    <p:sldId id="261" r:id="rId22"/>
    <p:sldId id="262" r:id="rId23"/>
    <p:sldId id="331" r:id="rId24"/>
    <p:sldId id="362" r:id="rId25"/>
    <p:sldId id="538" r:id="rId26"/>
    <p:sldId id="390" r:id="rId27"/>
    <p:sldId id="545" r:id="rId28"/>
    <p:sldId id="263" r:id="rId29"/>
    <p:sldId id="487" r:id="rId30"/>
    <p:sldId id="539" r:id="rId31"/>
    <p:sldId id="507" r:id="rId32"/>
    <p:sldId id="508" r:id="rId33"/>
    <p:sldId id="509" r:id="rId34"/>
    <p:sldId id="510" r:id="rId35"/>
    <p:sldId id="512" r:id="rId36"/>
    <p:sldId id="513" r:id="rId37"/>
    <p:sldId id="516" r:id="rId38"/>
    <p:sldId id="518" r:id="rId39"/>
    <p:sldId id="519" r:id="rId40"/>
    <p:sldId id="520" r:id="rId41"/>
    <p:sldId id="524" r:id="rId42"/>
    <p:sldId id="541" r:id="rId43"/>
    <p:sldId id="521" r:id="rId44"/>
    <p:sldId id="543" r:id="rId45"/>
    <p:sldId id="544" r:id="rId46"/>
    <p:sldId id="264" r:id="rId47"/>
    <p:sldId id="265" r:id="rId48"/>
    <p:sldId id="266" r:id="rId49"/>
    <p:sldId id="548" r:id="rId50"/>
    <p:sldId id="546" r:id="rId51"/>
    <p:sldId id="547" r:id="rId52"/>
    <p:sldId id="549" r:id="rId53"/>
    <p:sldId id="550" r:id="rId54"/>
    <p:sldId id="551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BD83D-E3B4-9AB2-07EF-FF8BAA9C0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B16304-1366-A259-2F9C-49B226B8FA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96EEC-E20D-E24A-D15F-53F056303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C650E-B0CD-4770-9740-E9529DEEFCBD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6A27E-DE7B-68C1-BF20-1310FBB3D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936FD-DBD4-FA1F-64DA-1989F795B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47B5E-2D6C-4693-951B-C1AC82045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610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74606-D815-D174-2D0A-57EECDAF0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BBA76-AE85-0FBE-C0BC-331FFD55F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4909B-1EA1-A7A4-FD3A-C2DDE3085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C650E-B0CD-4770-9740-E9529DEEFCBD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09BDA-B4C7-00DC-09DC-9F94B7F0C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FE5D6-40E0-FB51-D51B-8B59E9A6F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47B5E-2D6C-4693-951B-C1AC82045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74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D3AE8-3E67-CD8E-624C-C68F1969C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258EAF-4E80-514F-B5B9-56E8C8D0C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8D57C-CC78-AC04-C1D8-303C8BC98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C650E-B0CD-4770-9740-E9529DEEFCBD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47B12-C7C3-BDC6-2919-27F6099D2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90612-BA96-5E52-A268-3970E8320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47B5E-2D6C-4693-951B-C1AC82045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810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CE70C-83FE-CC7A-E6DA-185962B2D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C2885-44CF-F35C-74D3-911CEC94EE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52094B-E8C4-6C1A-C3A4-5C76B25ACA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299D3F-8317-EAD9-A0F1-4C3982ED1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C650E-B0CD-4770-9740-E9529DEEFCBD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1A920C-0972-3212-73A1-526FA1C73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D08EB7-2813-D0F1-0967-7F5D877E0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47B5E-2D6C-4693-951B-C1AC82045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39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E4757-508F-7572-7BA8-92CBE2B75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C5CA8F-18BF-476A-9A8E-31A519698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843B2D-37B1-C364-E6CB-7F8B68BE68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02B64C-7B3C-463B-8490-60C4B1CD94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621323-6DFD-F5B4-27FC-1135E5FCEA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E6520F-9275-0080-420F-4D6F925E1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C650E-B0CD-4770-9740-E9529DEEFCBD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C5449E-1F32-6B7E-AB27-4C84ACBC2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D3CC84-1295-8BD1-3CB3-823CE2713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47B5E-2D6C-4693-951B-C1AC82045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5615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B9876-51F1-EBA9-B858-9FBE5A297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F19715-7A11-D1F5-4D3A-FEB8F258C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C650E-B0CD-4770-9740-E9529DEEFCBD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53C69C-4B38-4C7C-23AE-801A5980A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07CA23-9A05-66F7-B94E-D94E92A2C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47B5E-2D6C-4693-951B-C1AC82045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640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1EF2F9-D700-4368-5E57-821D2A9B4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C650E-B0CD-4770-9740-E9529DEEFCBD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EB6D2B-C130-8494-44AA-0EE530932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01E9C-EC2A-CE04-BADF-1DF89EE8B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47B5E-2D6C-4693-951B-C1AC82045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270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AA65D-A320-82B2-FF85-B1E40E37D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76745-1556-671D-BBCD-E120BFC96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3AF897-BE21-2CB7-EC7A-358D0C19FA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5AB2DF-E56E-12B2-BCA7-FC77543A1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C650E-B0CD-4770-9740-E9529DEEFCBD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DFC86F-4C0F-7A71-4BD4-87E75978D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C9966D-C46F-87B5-E230-4D77241E1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47B5E-2D6C-4693-951B-C1AC82045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118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728EF-1046-21BD-EF86-C7C69879B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878BA4-EFC3-EA93-1C85-58AF682FC2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713E96-3F91-DAF7-8CED-4AF6FA6170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B1B519-5EA9-B273-0E97-95B9F1B63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C650E-B0CD-4770-9740-E9529DEEFCBD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F34C1-95A2-FDBD-8ACA-2FAFE14AC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AA8DEA-D9C1-6BA5-583A-A3FBDB06F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47B5E-2D6C-4693-951B-C1AC82045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85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BE293-BF8F-E029-9738-42C715C4E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D731ED-C084-DC10-69FF-49F8B2AECE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F6197-658F-FC63-C0CB-AAAE903DC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C650E-B0CD-4770-9740-E9529DEEFCBD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A618D-FB2A-2E07-336E-8BC390E74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EB5F9-24D1-55E1-C60A-43B38CEDA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47B5E-2D6C-4693-951B-C1AC82045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197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1379B7-780F-9DCF-F67D-DF51AA7F1E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E0929A-9BE9-F165-C304-6A743DB89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96268-2EB1-B079-E620-D14AB7C56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C650E-B0CD-4770-9740-E9529DEEFCBD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67445-FC85-6BAF-8F94-47E00EEB2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9C7C8-CE8A-0413-A5BF-FF70B63D7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47B5E-2D6C-4693-951B-C1AC82045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658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C93D14-E008-68EB-C0BD-14BF3D0E5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78E64-9104-309C-66B4-4242F2FEC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08F48-1946-CB08-B1D5-13C105BC39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FC650E-B0CD-4770-9740-E9529DEEFCBD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BC77D-89B2-33A7-2964-8C45A58E5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6DCF9-64A7-D8DD-3028-2891FF7252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247B5E-2D6C-4693-951B-C1AC82045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600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avatpoint.com/functional-testing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DACFB-7689-5CC4-D65A-7DD43999DE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Automation Testing</a:t>
            </a:r>
          </a:p>
        </p:txBody>
      </p:sp>
    </p:spTree>
    <p:extLst>
      <p:ext uri="{BB962C8B-B14F-4D97-AF65-F5344CB8AC3E}">
        <p14:creationId xmlns:p14="http://schemas.microsoft.com/office/powerpoint/2010/main" val="3840263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68847-F987-FBA7-3795-61C31A7D7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675" y="536895"/>
            <a:ext cx="10821797" cy="576323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/>
              <a:t>What is testing?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Te</a:t>
            </a:r>
            <a:r>
              <a:rPr lang="en-US" b="0" i="0" dirty="0">
                <a:effectLst/>
              </a:rPr>
              <a:t>sting is widely used technology because it is compulsory to test each and every software before deployment.</a:t>
            </a:r>
            <a:endParaRPr lang="en-US" b="1" i="0" dirty="0">
              <a:effectLst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b="0" i="0" dirty="0">
                <a:effectLst/>
              </a:rPr>
              <a:t>Evaluating  the execution of software components to find the software bugs or errors or defects.</a:t>
            </a:r>
            <a:endParaRPr lang="en-IN" b="1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28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70B23-341E-30AD-5F9D-1D20C9569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2514"/>
            <a:ext cx="10515600" cy="565444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/>
              <a:t>Software testing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0" i="0" dirty="0">
                <a:effectLst/>
              </a:rPr>
              <a:t>Software testing is a process of identifying the correctness of software by considering its all attributes (Reliability, Scalability, Portability, Re-usability, Usability) and evaluating the execution of software components to find the software bugs or errors or defects.</a:t>
            </a:r>
            <a:endParaRPr lang="en-IN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50362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A3A00-003B-891D-D6C4-DD6C5D3C1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0785"/>
            <a:ext cx="10515600" cy="5556178"/>
          </a:xfrm>
        </p:spPr>
        <p:txBody>
          <a:bodyPr/>
          <a:lstStyle/>
          <a:p>
            <a:pPr marL="514350" indent="-514350">
              <a:lnSpc>
                <a:spcPct val="200000"/>
              </a:lnSpc>
              <a:buAutoNum type="arabicPeriod"/>
            </a:pPr>
            <a:r>
              <a:rPr lang="en-IN" b="1" dirty="0"/>
              <a:t>Functional Testing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dirty="0"/>
              <a:t>Checks </a:t>
            </a:r>
            <a:r>
              <a:rPr lang="en-US" b="1" dirty="0"/>
              <a:t>what the system does</a:t>
            </a:r>
            <a:r>
              <a:rPr lang="en-US" dirty="0"/>
              <a:t> — its </a:t>
            </a:r>
            <a:r>
              <a:rPr lang="en-US" i="1" dirty="0"/>
              <a:t>features and actions</a:t>
            </a:r>
            <a:r>
              <a:rPr lang="en-US" dirty="0"/>
              <a:t>.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b="1" dirty="0"/>
              <a:t>Unit Testing</a:t>
            </a:r>
            <a:r>
              <a:rPr lang="en-US" dirty="0"/>
              <a:t> – tests small parts of code (like a single function).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b="1" dirty="0"/>
              <a:t>Integration Testing</a:t>
            </a:r>
            <a:r>
              <a:rPr lang="en-US" dirty="0"/>
              <a:t> – tests how different modules work together.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b="1" dirty="0"/>
              <a:t>System Testing</a:t>
            </a:r>
            <a:r>
              <a:rPr lang="en-US" dirty="0"/>
              <a:t> – tests the entire application as a whole.</a:t>
            </a:r>
          </a:p>
        </p:txBody>
      </p:sp>
    </p:spTree>
    <p:extLst>
      <p:ext uri="{BB962C8B-B14F-4D97-AF65-F5344CB8AC3E}">
        <p14:creationId xmlns:p14="http://schemas.microsoft.com/office/powerpoint/2010/main" val="121627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986FF-F6B2-A2E6-F2D5-6601915CD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341" y="536896"/>
            <a:ext cx="10699459" cy="564006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2. Non-Functional Testing</a:t>
            </a:r>
          </a:p>
          <a:p>
            <a:pPr marL="0" indent="0">
              <a:buNone/>
            </a:pPr>
            <a:r>
              <a:rPr lang="en-US" dirty="0"/>
              <a:t>Checks </a:t>
            </a:r>
            <a:r>
              <a:rPr lang="en-US" b="1" dirty="0"/>
              <a:t>how well the system works</a:t>
            </a:r>
            <a:r>
              <a:rPr lang="en-US" dirty="0"/>
              <a:t> — its </a:t>
            </a:r>
            <a:r>
              <a:rPr lang="en-US" i="1" dirty="0"/>
              <a:t>quality, performance, and behavior under stress.</a:t>
            </a:r>
            <a:endParaRPr lang="en-IN" dirty="0"/>
          </a:p>
          <a:p>
            <a:pPr marL="514350" indent="-514350">
              <a:buAutoNum type="arabicPeriod"/>
            </a:pPr>
            <a:r>
              <a:rPr lang="en-IN" b="1" dirty="0"/>
              <a:t>Performance Testing</a:t>
            </a:r>
          </a:p>
          <a:p>
            <a:pPr marL="0" indent="0">
              <a:buNone/>
            </a:pPr>
            <a:r>
              <a:rPr lang="en-US" dirty="0"/>
              <a:t>To check how fast, responsive, and stable the system is under different conditions.</a:t>
            </a:r>
          </a:p>
          <a:p>
            <a:pPr marL="0" indent="0">
              <a:buNone/>
            </a:pPr>
            <a:r>
              <a:rPr lang="en-US" b="1" dirty="0"/>
              <a:t>2. </a:t>
            </a:r>
            <a:r>
              <a:rPr lang="en-IN" b="1" dirty="0"/>
              <a:t>Load Testing</a:t>
            </a:r>
          </a:p>
          <a:p>
            <a:pPr marL="0" indent="0">
              <a:buNone/>
            </a:pPr>
            <a:r>
              <a:rPr lang="en-US" dirty="0"/>
              <a:t>To test how the system behaves under </a:t>
            </a:r>
            <a:r>
              <a:rPr lang="en-US" b="1" dirty="0"/>
              <a:t>expected user load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3.</a:t>
            </a:r>
            <a:r>
              <a:rPr lang="en-IN" b="1" dirty="0"/>
              <a:t> Stress Testing</a:t>
            </a:r>
          </a:p>
          <a:p>
            <a:pPr marL="0" indent="0">
              <a:buNone/>
            </a:pPr>
            <a:r>
              <a:rPr lang="en-US" dirty="0"/>
              <a:t>To check how the system performs under </a:t>
            </a:r>
            <a:r>
              <a:rPr lang="en-US" b="1" dirty="0"/>
              <a:t>extreme conditions</a:t>
            </a:r>
            <a:r>
              <a:rPr lang="en-US" dirty="0"/>
              <a:t> — beyond normal limits.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7231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849A3-C7AD-C502-557D-C63DAA1E4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3853"/>
            <a:ext cx="10515600" cy="567311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Commercial vs Open source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FC20FB-F0CA-2C84-3248-9C252EB1AA23}"/>
              </a:ext>
            </a:extLst>
          </p:cNvPr>
          <p:cNvGraphicFramePr>
            <a:graphicFrameLocks noGrp="1"/>
          </p:cNvGraphicFramePr>
          <p:nvPr/>
        </p:nvGraphicFramePr>
        <p:xfrm>
          <a:off x="959498" y="1129004"/>
          <a:ext cx="10078616" cy="52251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0712">
                  <a:extLst>
                    <a:ext uri="{9D8B030D-6E8A-4147-A177-3AD203B41FA5}">
                      <a16:colId xmlns:a16="http://schemas.microsoft.com/office/drawing/2014/main" val="3002544950"/>
                    </a:ext>
                  </a:extLst>
                </a:gridCol>
                <a:gridCol w="2510712">
                  <a:extLst>
                    <a:ext uri="{9D8B030D-6E8A-4147-A177-3AD203B41FA5}">
                      <a16:colId xmlns:a16="http://schemas.microsoft.com/office/drawing/2014/main" val="1171470513"/>
                    </a:ext>
                  </a:extLst>
                </a:gridCol>
                <a:gridCol w="5057192">
                  <a:extLst>
                    <a:ext uri="{9D8B030D-6E8A-4147-A177-3AD203B41FA5}">
                      <a16:colId xmlns:a16="http://schemas.microsoft.com/office/drawing/2014/main" val="4248480417"/>
                    </a:ext>
                  </a:extLst>
                </a:gridCol>
              </a:tblGrid>
              <a:tr h="450337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Commercial tool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Open-source tool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088644"/>
                  </a:ext>
                </a:extLst>
              </a:tr>
              <a:tr h="1443546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Commercial </a:t>
                      </a:r>
                      <a:r>
                        <a:rPr lang="en-US" dirty="0">
                          <a:hlinkClick r:id="rId2"/>
                        </a:rPr>
                        <a:t>functional testing</a:t>
                      </a:r>
                      <a:r>
                        <a:rPr lang="en-US" dirty="0"/>
                        <a:t> tools are those testing tools, which are not available freely in the market. 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Open-source functional testing tools are those tools, which are available freely in the market.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793329"/>
                  </a:ext>
                </a:extLst>
              </a:tr>
              <a:tr h="1776672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These tools are also known as </a:t>
                      </a:r>
                      <a:r>
                        <a:rPr lang="en-US" b="1" dirty="0"/>
                        <a:t>licensed tools</a:t>
                      </a:r>
                      <a:r>
                        <a:rPr lang="en-US" dirty="0"/>
                        <a:t>.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These tools have less functionality and features than the </a:t>
                      </a:r>
                      <a:r>
                        <a:rPr lang="en-US" b="1" dirty="0"/>
                        <a:t>commercial/licensed tools</a:t>
                      </a:r>
                      <a:r>
                        <a:rPr lang="en-US" dirty="0"/>
                        <a:t>, but sometimes working on the commercial tool became an expensive process.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855794"/>
                  </a:ext>
                </a:extLst>
              </a:tr>
              <a:tr h="111042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The licensed tools include various features and approaches as compared to the open-source tools.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That's why some well-known organizations preferred to use open-source tools.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108458"/>
                  </a:ext>
                </a:extLst>
              </a:tr>
              <a:tr h="44416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9277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8026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2199D-1405-6F44-23CC-99D0FF0D8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477" y="2261037"/>
            <a:ext cx="10515600" cy="1325563"/>
          </a:xfrm>
        </p:spPr>
        <p:txBody>
          <a:bodyPr/>
          <a:lstStyle/>
          <a:p>
            <a:pPr algn="ctr"/>
            <a:r>
              <a:rPr lang="en-IN" b="1" dirty="0"/>
              <a:t>Selenium</a:t>
            </a:r>
          </a:p>
        </p:txBody>
      </p:sp>
    </p:spTree>
    <p:extLst>
      <p:ext uri="{BB962C8B-B14F-4D97-AF65-F5344CB8AC3E}">
        <p14:creationId xmlns:p14="http://schemas.microsoft.com/office/powerpoint/2010/main" val="1936729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0AB98-7012-8893-919E-8340DF012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1845"/>
            <a:ext cx="10515600" cy="564511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i="0" dirty="0">
                <a:effectLst/>
              </a:rPr>
              <a:t>What is </a:t>
            </a:r>
            <a:r>
              <a:rPr lang="en-IN" b="1" i="0" dirty="0">
                <a:effectLst/>
              </a:rPr>
              <a:t>Selenium?</a:t>
            </a:r>
            <a:endParaRPr lang="en-US" b="1" i="0" dirty="0">
              <a:effectLst/>
            </a:endParaRPr>
          </a:p>
          <a:p>
            <a:pPr>
              <a:lnSpc>
                <a:spcPct val="150000"/>
              </a:lnSpc>
            </a:pPr>
            <a:r>
              <a:rPr lang="en-US" b="0" i="0" dirty="0">
                <a:effectLst/>
              </a:rPr>
              <a:t>Selenium is one of the most widely used open source Web UI (User Interface) automation testing suite.</a:t>
            </a:r>
          </a:p>
          <a:p>
            <a:pPr>
              <a:lnSpc>
                <a:spcPct val="150000"/>
              </a:lnSpc>
            </a:pPr>
            <a:r>
              <a:rPr lang="en-US" b="0" i="0" dirty="0">
                <a:effectLst/>
              </a:rPr>
              <a:t>It was originally developed by </a:t>
            </a:r>
            <a:r>
              <a:rPr lang="en-US" b="1" i="0" dirty="0">
                <a:effectLst/>
              </a:rPr>
              <a:t>Jason Huggins in 2004 as an internal tool at Thought Works.</a:t>
            </a:r>
          </a:p>
          <a:p>
            <a:pPr>
              <a:lnSpc>
                <a:spcPct val="150000"/>
              </a:lnSpc>
            </a:pPr>
            <a:r>
              <a:rPr lang="en-US" b="0" i="0" dirty="0">
                <a:effectLst/>
              </a:rPr>
              <a:t> Selenium supports automation across different browsers, platforms and programming languages.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1794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ED5DC-BF09-5FAA-6BFB-5694C84C7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7159"/>
            <a:ext cx="10515600" cy="5579804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/>
              <a:t>Test Automation with Selenium:</a:t>
            </a:r>
          </a:p>
          <a:p>
            <a:pPr>
              <a:lnSpc>
                <a:spcPct val="150000"/>
              </a:lnSpc>
            </a:pPr>
            <a:r>
              <a:rPr lang="en-IN" dirty="0"/>
              <a:t>open source testing tool</a:t>
            </a:r>
          </a:p>
          <a:p>
            <a:pPr>
              <a:lnSpc>
                <a:spcPct val="150000"/>
              </a:lnSpc>
            </a:pPr>
            <a:r>
              <a:rPr lang="en-IN" dirty="0"/>
              <a:t>selenium used for web application testing </a:t>
            </a:r>
          </a:p>
          <a:p>
            <a:pPr>
              <a:lnSpc>
                <a:spcPct val="150000"/>
              </a:lnSpc>
            </a:pPr>
            <a:r>
              <a:rPr lang="en-IN" dirty="0"/>
              <a:t>selenium support (chrome, </a:t>
            </a:r>
            <a:r>
              <a:rPr lang="en-IN" dirty="0" err="1"/>
              <a:t>firefox</a:t>
            </a:r>
            <a:r>
              <a:rPr lang="en-IN" dirty="0"/>
              <a:t>, Microsoft edge, safari, opera)</a:t>
            </a:r>
          </a:p>
          <a:p>
            <a:pPr>
              <a:lnSpc>
                <a:spcPct val="150000"/>
              </a:lnSpc>
            </a:pPr>
            <a:r>
              <a:rPr lang="en-IN" dirty="0"/>
              <a:t>selenium support OS like(windows, Linux, apple </a:t>
            </a:r>
            <a:r>
              <a:rPr lang="en-IN" dirty="0" err="1"/>
              <a:t>os</a:t>
            </a:r>
            <a:r>
              <a:rPr lang="en-IN" dirty="0"/>
              <a:t>)</a:t>
            </a:r>
          </a:p>
          <a:p>
            <a:pPr>
              <a:lnSpc>
                <a:spcPct val="150000"/>
              </a:lnSpc>
            </a:pPr>
            <a:r>
              <a:rPr lang="en-IN" dirty="0"/>
              <a:t>selenium support programming language(Java,Python,c#,</a:t>
            </a:r>
            <a:r>
              <a:rPr lang="en-IN" dirty="0" err="1"/>
              <a:t>PERL,R,Ruby</a:t>
            </a:r>
            <a:r>
              <a:rPr lang="en-IN" dirty="0"/>
              <a:t>)Python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7459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26FDA-F838-A554-216E-B3A5E1278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9167"/>
            <a:ext cx="10515600" cy="5607796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b="1" i="0" dirty="0">
                <a:effectLst/>
              </a:rPr>
              <a:t>Why learn Selenium Python ?</a:t>
            </a:r>
          </a:p>
          <a:p>
            <a:pPr>
              <a:lnSpc>
                <a:spcPct val="150000"/>
              </a:lnSpc>
            </a:pPr>
            <a:r>
              <a:rPr lang="en-IN" i="0" dirty="0">
                <a:effectLst/>
              </a:rPr>
              <a:t>Open Source and Portable</a:t>
            </a:r>
          </a:p>
          <a:p>
            <a:pPr>
              <a:lnSpc>
                <a:spcPct val="150000"/>
              </a:lnSpc>
            </a:pPr>
            <a:r>
              <a:rPr lang="en-US" i="0" dirty="0">
                <a:effectLst/>
              </a:rPr>
              <a:t>Combination of tool and DSL</a:t>
            </a:r>
            <a:r>
              <a:rPr lang="en-IN" i="0" dirty="0">
                <a:effectLst/>
              </a:rPr>
              <a:t>(Domain Specific Language)</a:t>
            </a:r>
          </a:p>
          <a:p>
            <a:pPr>
              <a:lnSpc>
                <a:spcPct val="150000"/>
              </a:lnSpc>
            </a:pPr>
            <a:r>
              <a:rPr lang="en-US" i="0" dirty="0">
                <a:effectLst/>
              </a:rPr>
              <a:t>Easier to understand and implement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US" i="0" dirty="0">
                <a:effectLst/>
              </a:rPr>
              <a:t>Less burden and stress for testers</a:t>
            </a:r>
            <a:endParaRPr lang="en-IN" i="0" dirty="0">
              <a:effectLst/>
            </a:endParaRPr>
          </a:p>
          <a:p>
            <a:pPr>
              <a:lnSpc>
                <a:spcPct val="150000"/>
              </a:lnSpc>
            </a:pPr>
            <a:r>
              <a:rPr lang="en-US" i="0" dirty="0">
                <a:effectLst/>
              </a:rPr>
              <a:t>Cost reduction for the Business Clients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6150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914D3D2-A9C3-57E8-BCDD-1A8D38F1A5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1963" y="746620"/>
            <a:ext cx="8667171" cy="5430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306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E5463D-50B7-B0E0-DE82-84F9172ECE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52" y="788566"/>
            <a:ext cx="8959442" cy="5388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636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6B9E0-9FB0-E228-CD8C-E11A7C9F5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7159"/>
            <a:ext cx="10515600" cy="5579804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>
                <a:solidFill>
                  <a:schemeClr val="tx2"/>
                </a:solidFill>
              </a:rPr>
              <a:t>Selenium WebDriver Framework Architecture</a:t>
            </a:r>
          </a:p>
          <a:p>
            <a:pPr>
              <a:lnSpc>
                <a:spcPct val="150000"/>
              </a:lnSpc>
            </a:pPr>
            <a:r>
              <a:rPr lang="en-US" b="1" dirty="0"/>
              <a:t>WebDriver Architecture is made up of four major components: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Selenium Client library</a:t>
            </a:r>
          </a:p>
          <a:p>
            <a:pPr>
              <a:lnSpc>
                <a:spcPct val="150000"/>
              </a:lnSpc>
            </a:pPr>
            <a:r>
              <a:rPr lang="en-US" dirty="0"/>
              <a:t>JSON wire protocol over HTTP</a:t>
            </a:r>
          </a:p>
          <a:p>
            <a:pPr>
              <a:lnSpc>
                <a:spcPct val="150000"/>
              </a:lnSpc>
            </a:pPr>
            <a:r>
              <a:rPr lang="en-US" dirty="0"/>
              <a:t>Browser Drivers</a:t>
            </a:r>
          </a:p>
          <a:p>
            <a:pPr>
              <a:lnSpc>
                <a:spcPct val="150000"/>
              </a:lnSpc>
            </a:pPr>
            <a:r>
              <a:rPr lang="en-US" dirty="0"/>
              <a:t>Browsers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1732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0" t="23234" r="9032" b="7850"/>
          <a:stretch/>
        </p:blipFill>
        <p:spPr>
          <a:xfrm>
            <a:off x="1688908" y="673883"/>
            <a:ext cx="8496944" cy="5510233"/>
          </a:xfrm>
        </p:spPr>
      </p:pic>
    </p:spTree>
    <p:extLst>
      <p:ext uri="{BB962C8B-B14F-4D97-AF65-F5344CB8AC3E}">
        <p14:creationId xmlns:p14="http://schemas.microsoft.com/office/powerpoint/2010/main" val="2614050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2513E-426A-4CB0-9618-DA22BAFE3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868" y="2766218"/>
            <a:ext cx="10515600" cy="1325563"/>
          </a:xfrm>
        </p:spPr>
        <p:txBody>
          <a:bodyPr/>
          <a:lstStyle/>
          <a:p>
            <a:pPr algn="ctr"/>
            <a:r>
              <a:rPr lang="en-IN" b="1" dirty="0"/>
              <a:t>Web Scraping</a:t>
            </a:r>
          </a:p>
        </p:txBody>
      </p:sp>
    </p:spTree>
    <p:extLst>
      <p:ext uri="{BB962C8B-B14F-4D97-AF65-F5344CB8AC3E}">
        <p14:creationId xmlns:p14="http://schemas.microsoft.com/office/powerpoint/2010/main" val="1819342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1BDDB-234E-4590-E638-8B72F2E04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83D97-875E-346C-97B6-D27CBAD67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675" y="536895"/>
            <a:ext cx="10821797" cy="576323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What is Web Scraping?</a:t>
            </a:r>
          </a:p>
          <a:p>
            <a:pPr>
              <a:lnSpc>
                <a:spcPct val="150000"/>
              </a:lnSpc>
            </a:pPr>
            <a:r>
              <a:rPr lang="en-US" b="1" dirty="0"/>
              <a:t>Web scraping</a:t>
            </a:r>
            <a:r>
              <a:rPr lang="en-US" dirty="0"/>
              <a:t> is a technique used to automatically extract data from websites using software or scripts.</a:t>
            </a:r>
          </a:p>
          <a:p>
            <a:pPr>
              <a:lnSpc>
                <a:spcPct val="150000"/>
              </a:lnSpc>
            </a:pPr>
            <a:r>
              <a:rPr lang="en-US" dirty="0"/>
              <a:t>Instead of manually copying data from a website, a program collects the data for you.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4867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7D191-36A6-9557-A55E-CD8AA3862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6AF4B-65CD-516E-8CC0-A13556264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675" y="536895"/>
            <a:ext cx="10821797" cy="576323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/>
              <a:t> Why Use Web Scraping?</a:t>
            </a:r>
          </a:p>
          <a:p>
            <a:pPr>
              <a:lnSpc>
                <a:spcPct val="150000"/>
              </a:lnSpc>
            </a:pPr>
            <a:r>
              <a:rPr lang="en-IN" dirty="0"/>
              <a:t>Data collection for analysis</a:t>
            </a:r>
          </a:p>
          <a:p>
            <a:pPr>
              <a:lnSpc>
                <a:spcPct val="150000"/>
              </a:lnSpc>
            </a:pPr>
            <a:r>
              <a:rPr lang="en-IN" dirty="0"/>
              <a:t>Price comparison</a:t>
            </a:r>
          </a:p>
          <a:p>
            <a:pPr>
              <a:lnSpc>
                <a:spcPct val="150000"/>
              </a:lnSpc>
            </a:pPr>
            <a:r>
              <a:rPr lang="en-IN" dirty="0"/>
              <a:t>Market research</a:t>
            </a:r>
          </a:p>
          <a:p>
            <a:pPr>
              <a:lnSpc>
                <a:spcPct val="150000"/>
              </a:lnSpc>
            </a:pPr>
            <a:r>
              <a:rPr lang="en-IN" dirty="0"/>
              <a:t>News aggregation</a:t>
            </a:r>
          </a:p>
          <a:p>
            <a:pPr>
              <a:lnSpc>
                <a:spcPct val="150000"/>
              </a:lnSpc>
            </a:pPr>
            <a:r>
              <a:rPr lang="en-IN" dirty="0"/>
              <a:t>Automation tasks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5962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37646-4F44-A0AB-DE52-230F315F6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BB4A8-D86C-339B-EB3B-C5AA6E062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675" y="536895"/>
            <a:ext cx="10821797" cy="576323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/>
              <a:t>Tools Used for Web Scraping in Python</a:t>
            </a:r>
          </a:p>
          <a:p>
            <a:pPr>
              <a:lnSpc>
                <a:spcPct val="150000"/>
              </a:lnSpc>
            </a:pPr>
            <a:r>
              <a:rPr lang="en-IN" b="1" dirty="0"/>
              <a:t>Selenium</a:t>
            </a:r>
            <a:r>
              <a:rPr lang="en-IN" dirty="0"/>
              <a:t> – For dynamic websites (JavaScript-based sites)</a:t>
            </a:r>
          </a:p>
          <a:p>
            <a:pPr>
              <a:lnSpc>
                <a:spcPct val="150000"/>
              </a:lnSpc>
            </a:pPr>
            <a:r>
              <a:rPr lang="en-IN" b="1" dirty="0"/>
              <a:t>Beautiful Soup</a:t>
            </a:r>
            <a:r>
              <a:rPr lang="en-IN" dirty="0"/>
              <a:t> – For parsing HTML</a:t>
            </a:r>
          </a:p>
          <a:p>
            <a:pPr>
              <a:lnSpc>
                <a:spcPct val="150000"/>
              </a:lnSpc>
            </a:pPr>
            <a:r>
              <a:rPr lang="en-IN" b="1" dirty="0"/>
              <a:t>Scrapy</a:t>
            </a:r>
            <a:r>
              <a:rPr lang="en-IN" dirty="0"/>
              <a:t> – Powerful scraping framework</a:t>
            </a:r>
          </a:p>
          <a:p>
            <a:pPr>
              <a:lnSpc>
                <a:spcPct val="150000"/>
              </a:lnSpc>
            </a:pPr>
            <a:r>
              <a:rPr lang="en-IN" b="1" dirty="0"/>
              <a:t>Requests</a:t>
            </a:r>
            <a:r>
              <a:rPr lang="en-IN" dirty="0"/>
              <a:t> – To send HTTP requests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09488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9968A-2D1C-48CD-DD3E-B12E5AE83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0A177-4901-DE98-FFF2-810F1396A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675" y="536895"/>
            <a:ext cx="10821797" cy="57632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Static vs Dynamic Websites </a:t>
            </a:r>
          </a:p>
          <a:p>
            <a:pPr marL="0" indent="0">
              <a:buNone/>
            </a:pPr>
            <a:endParaRPr lang="en-IN" sz="32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F44BB4-5F92-EEF2-999B-4085D6081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1145333"/>
              </p:ext>
            </p:extLst>
          </p:nvPr>
        </p:nvGraphicFramePr>
        <p:xfrm>
          <a:off x="665528" y="1249959"/>
          <a:ext cx="10709943" cy="4857228"/>
        </p:xfrm>
        <a:graphic>
          <a:graphicData uri="http://schemas.openxmlformats.org/drawingml/2006/table">
            <a:tbl>
              <a:tblPr/>
              <a:tblGrid>
                <a:gridCol w="3569981">
                  <a:extLst>
                    <a:ext uri="{9D8B030D-6E8A-4147-A177-3AD203B41FA5}">
                      <a16:colId xmlns:a16="http://schemas.microsoft.com/office/drawing/2014/main" val="4280454647"/>
                    </a:ext>
                  </a:extLst>
                </a:gridCol>
                <a:gridCol w="3569981">
                  <a:extLst>
                    <a:ext uri="{9D8B030D-6E8A-4147-A177-3AD203B41FA5}">
                      <a16:colId xmlns:a16="http://schemas.microsoft.com/office/drawing/2014/main" val="1149357693"/>
                    </a:ext>
                  </a:extLst>
                </a:gridCol>
                <a:gridCol w="3569981">
                  <a:extLst>
                    <a:ext uri="{9D8B030D-6E8A-4147-A177-3AD203B41FA5}">
                      <a16:colId xmlns:a16="http://schemas.microsoft.com/office/drawing/2014/main" val="2550758761"/>
                    </a:ext>
                  </a:extLst>
                </a:gridCol>
              </a:tblGrid>
              <a:tr h="809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Static Website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Dynamic Website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298319"/>
                  </a:ext>
                </a:extLst>
              </a:tr>
              <a:tr h="809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Same for all users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Changes based on user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60104"/>
                  </a:ext>
                </a:extLst>
              </a:tr>
              <a:tr h="809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8772864"/>
                  </a:ext>
                </a:extLst>
              </a:tr>
              <a:tr h="809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Slightly Slower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299758"/>
                  </a:ext>
                </a:extLst>
              </a:tr>
              <a:tr h="809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Simple Portfolio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Amazon, Facebook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577607"/>
                  </a:ext>
                </a:extLst>
              </a:tr>
              <a:tr h="809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Web scraping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Easy to scrape using </a:t>
                      </a:r>
                      <a:r>
                        <a:rPr lang="en-US" b="1" dirty="0" err="1"/>
                        <a:t>BeautifulSoup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Need </a:t>
                      </a:r>
                      <a:r>
                        <a:rPr lang="en-US" b="1" dirty="0"/>
                        <a:t>Selenium</a:t>
                      </a:r>
                      <a:r>
                        <a:rPr lang="en-US" dirty="0"/>
                        <a:t> (because content loads using JavaScript)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367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51838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3DE6F-A5AD-5252-5879-AD00D4A50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142A4-3CFD-24F8-96C7-0FDD97C28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675" y="536895"/>
            <a:ext cx="10821797" cy="576323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Why Use Selenium for Web Scraping?</a:t>
            </a:r>
          </a:p>
          <a:p>
            <a:pPr marL="0" indent="0">
              <a:buNone/>
            </a:pPr>
            <a:r>
              <a:rPr lang="fr-FR" dirty="0"/>
              <a:t>1. </a:t>
            </a:r>
            <a:r>
              <a:rPr lang="fr-FR" dirty="0" err="1"/>
              <a:t>Handles</a:t>
            </a:r>
            <a:r>
              <a:rPr lang="fr-FR" dirty="0"/>
              <a:t> Dynamic </a:t>
            </a:r>
            <a:r>
              <a:rPr lang="fr-FR" dirty="0" err="1"/>
              <a:t>Websites</a:t>
            </a:r>
            <a:r>
              <a:rPr lang="fr-FR" dirty="0"/>
              <a:t> (JavaScript Content)</a:t>
            </a:r>
          </a:p>
          <a:p>
            <a:pPr marL="0" indent="0">
              <a:buNone/>
            </a:pPr>
            <a:r>
              <a:rPr lang="en-IN" dirty="0"/>
              <a:t>2. Automates User Actions</a:t>
            </a:r>
          </a:p>
          <a:p>
            <a:pPr marL="0" indent="0">
              <a:buNone/>
            </a:pPr>
            <a:r>
              <a:rPr lang="en-IN" dirty="0"/>
              <a:t>3. Handles Login &amp; Authentication</a:t>
            </a:r>
          </a:p>
          <a:p>
            <a:pPr marL="0" indent="0">
              <a:buNone/>
            </a:pPr>
            <a:r>
              <a:rPr lang="en-IN" dirty="0"/>
              <a:t>4. Supports Infinite Scroll Websites</a:t>
            </a:r>
          </a:p>
        </p:txBody>
      </p:sp>
    </p:spTree>
    <p:extLst>
      <p:ext uri="{BB962C8B-B14F-4D97-AF65-F5344CB8AC3E}">
        <p14:creationId xmlns:p14="http://schemas.microsoft.com/office/powerpoint/2010/main" val="3830793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560A9-563E-9FB4-8CA5-C5987A685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2C464-9650-FBF3-C6FA-7F3839D49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675" y="536895"/>
            <a:ext cx="10821797" cy="57632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Real-World Use Cases of Web Scraping</a:t>
            </a:r>
          </a:p>
          <a:p>
            <a:pPr marL="0" indent="0">
              <a:buNone/>
            </a:pPr>
            <a:r>
              <a:rPr lang="en-IN" b="1" dirty="0"/>
              <a:t>Job Data Collection </a:t>
            </a:r>
          </a:p>
          <a:p>
            <a:pPr marL="0" indent="0">
              <a:buNone/>
            </a:pPr>
            <a:r>
              <a:rPr lang="en-IN" b="1" dirty="0"/>
              <a:t>What is scraped?</a:t>
            </a:r>
          </a:p>
          <a:p>
            <a:pPr marL="0" indent="0">
              <a:buNone/>
            </a:pPr>
            <a:r>
              <a:rPr lang="en-IN" dirty="0"/>
              <a:t>Job title</a:t>
            </a:r>
          </a:p>
          <a:p>
            <a:pPr marL="0" indent="0">
              <a:buNone/>
            </a:pPr>
            <a:r>
              <a:rPr lang="en-IN" dirty="0"/>
              <a:t>Company name</a:t>
            </a:r>
          </a:p>
          <a:p>
            <a:pPr marL="0" indent="0">
              <a:buNone/>
            </a:pPr>
            <a:r>
              <a:rPr lang="en-IN" dirty="0"/>
              <a:t>Location</a:t>
            </a:r>
          </a:p>
          <a:p>
            <a:pPr marL="0" indent="0">
              <a:buNone/>
            </a:pPr>
            <a:r>
              <a:rPr lang="en-IN" dirty="0"/>
              <a:t>Salary</a:t>
            </a:r>
          </a:p>
          <a:p>
            <a:pPr marL="0" indent="0">
              <a:buNone/>
            </a:pPr>
            <a:r>
              <a:rPr lang="en-IN" dirty="0"/>
              <a:t>Required skills</a:t>
            </a:r>
          </a:p>
          <a:p>
            <a:pPr marL="0" indent="0">
              <a:buNone/>
            </a:pPr>
            <a:r>
              <a:rPr lang="en-IN" dirty="0"/>
              <a:t>Experience</a:t>
            </a:r>
          </a:p>
        </p:txBody>
      </p:sp>
    </p:spTree>
    <p:extLst>
      <p:ext uri="{BB962C8B-B14F-4D97-AF65-F5344CB8AC3E}">
        <p14:creationId xmlns:p14="http://schemas.microsoft.com/office/powerpoint/2010/main" val="35213951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F9911-7784-3D0D-432F-B52A9156E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6D2DD-F3DE-CD79-3EED-43C482983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675" y="536895"/>
            <a:ext cx="10821797" cy="576323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From websites like:</a:t>
            </a:r>
          </a:p>
          <a:p>
            <a:pPr>
              <a:lnSpc>
                <a:spcPct val="100000"/>
              </a:lnSpc>
            </a:pPr>
            <a:r>
              <a:rPr lang="en-IN" b="1" dirty="0"/>
              <a:t>LinkedIn</a:t>
            </a:r>
            <a:endParaRPr lang="en-IN" dirty="0"/>
          </a:p>
          <a:p>
            <a:pPr>
              <a:lnSpc>
                <a:spcPct val="100000"/>
              </a:lnSpc>
            </a:pPr>
            <a:r>
              <a:rPr lang="en-IN" b="1" dirty="0"/>
              <a:t>Indeed</a:t>
            </a:r>
            <a:endParaRPr lang="en-IN" dirty="0"/>
          </a:p>
          <a:p>
            <a:pPr>
              <a:lnSpc>
                <a:spcPct val="100000"/>
              </a:lnSpc>
            </a:pPr>
            <a:r>
              <a:rPr lang="en-IN" b="1" dirty="0"/>
              <a:t>Naukri.com</a:t>
            </a:r>
            <a:endParaRPr lang="en-IN" dirty="0"/>
          </a:p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 Why scrape job data?</a:t>
            </a:r>
          </a:p>
          <a:p>
            <a:pPr>
              <a:lnSpc>
                <a:spcPct val="100000"/>
              </a:lnSpc>
            </a:pPr>
            <a:r>
              <a:rPr lang="en-IN" dirty="0" err="1"/>
              <a:t>Analyze</a:t>
            </a:r>
            <a:r>
              <a:rPr lang="en-IN" dirty="0"/>
              <a:t> demand for skills (Python, Selenium, etc.)</a:t>
            </a:r>
          </a:p>
          <a:p>
            <a:pPr>
              <a:lnSpc>
                <a:spcPct val="100000"/>
              </a:lnSpc>
            </a:pPr>
            <a:r>
              <a:rPr lang="en-IN" dirty="0"/>
              <a:t>Salary trend analysis</a:t>
            </a:r>
          </a:p>
          <a:p>
            <a:pPr>
              <a:lnSpc>
                <a:spcPct val="100000"/>
              </a:lnSpc>
            </a:pPr>
            <a:r>
              <a:rPr lang="en-IN" dirty="0"/>
              <a:t>Build job alert systems</a:t>
            </a:r>
          </a:p>
          <a:p>
            <a:pPr>
              <a:lnSpc>
                <a:spcPct val="100000"/>
              </a:lnSpc>
            </a:pPr>
            <a:r>
              <a:rPr lang="en-IN" dirty="0"/>
              <a:t>Market research for training institutes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B0C85C4-A16E-62B0-6725-AD410DA871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163721"/>
              </p:ext>
            </p:extLst>
          </p:nvPr>
        </p:nvGraphicFramePr>
        <p:xfrm>
          <a:off x="6096000" y="719666"/>
          <a:ext cx="4331516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31516">
                  <a:extLst>
                    <a:ext uri="{9D8B030D-6E8A-4147-A177-3AD203B41FA5}">
                      <a16:colId xmlns:a16="http://schemas.microsoft.com/office/drawing/2014/main" val="7682436"/>
                    </a:ext>
                  </a:extLst>
                </a:gridCol>
              </a:tblGrid>
              <a:tr h="20822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>
                          <a:solidFill>
                            <a:schemeClr val="tx1"/>
                          </a:solidFill>
                        </a:rPr>
                        <a:t>Example:</a:t>
                      </a:r>
                      <a:br>
                        <a:rPr lang="en-IN" sz="24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IN" sz="2400" b="0" dirty="0">
                          <a:solidFill>
                            <a:schemeClr val="tx1"/>
                          </a:solidFill>
                        </a:rPr>
                        <a:t>A training institute scrapes job portals to see how many companies require Selenium + Python skills.</a:t>
                      </a:r>
                    </a:p>
                    <a:p>
                      <a:endParaRPr lang="en-I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371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75794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F3392-E639-3D90-69BE-6BDACA400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1176"/>
            <a:ext cx="10515600" cy="563578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what is </a:t>
            </a:r>
            <a:r>
              <a:rPr lang="en-US" b="1" dirty="0" err="1"/>
              <a:t>webdriver</a:t>
            </a:r>
            <a:r>
              <a:rPr lang="en-US" b="1" dirty="0"/>
              <a:t>?</a:t>
            </a:r>
          </a:p>
          <a:p>
            <a:pPr>
              <a:lnSpc>
                <a:spcPct val="150000"/>
              </a:lnSpc>
            </a:pPr>
            <a:r>
              <a:rPr lang="en-US" dirty="0"/>
              <a:t>Selenium </a:t>
            </a:r>
            <a:r>
              <a:rPr lang="en-US" dirty="0" err="1"/>
              <a:t>webdriver</a:t>
            </a:r>
            <a:r>
              <a:rPr lang="en-US" dirty="0"/>
              <a:t> is an automated testing framework used for the validation of websites(and web applications).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Totally 6 browsers--&gt;</a:t>
            </a:r>
            <a:r>
              <a:rPr lang="en-US" b="1" dirty="0" err="1"/>
              <a:t>webdrivers</a:t>
            </a:r>
            <a:r>
              <a:rPr lang="en-US" b="1" dirty="0"/>
              <a:t> download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8390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10F3F-C6CD-F64C-9B21-671866B51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6490"/>
            <a:ext cx="10515600" cy="5570473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3) Selenium Locators</a:t>
            </a:r>
          </a:p>
          <a:p>
            <a:pPr>
              <a:lnSpc>
                <a:spcPct val="100000"/>
              </a:lnSpc>
            </a:pPr>
            <a:r>
              <a:rPr lang="en-US" dirty="0"/>
              <a:t>Locate the element on the web page via locators  in selenium</a:t>
            </a:r>
          </a:p>
          <a:p>
            <a:pPr>
              <a:lnSpc>
                <a:spcPct val="100000"/>
              </a:lnSpc>
            </a:pPr>
            <a:r>
              <a:rPr lang="en-US" dirty="0"/>
              <a:t>Selenium have wide range of locators which helps to locate elements on a web page.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1085FB-D890-8B97-BC75-FA7AF156DCD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11" t="29820" r="35111" b="16313"/>
          <a:stretch/>
        </p:blipFill>
        <p:spPr>
          <a:xfrm>
            <a:off x="2170202" y="2837666"/>
            <a:ext cx="7029781" cy="333929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07B6093-47F9-5024-F3D0-B7680C829CE1}"/>
              </a:ext>
            </a:extLst>
          </p:cNvPr>
          <p:cNvSpPr/>
          <p:nvPr/>
        </p:nvSpPr>
        <p:spPr>
          <a:xfrm>
            <a:off x="8546840" y="5794309"/>
            <a:ext cx="653143" cy="3826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3700541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18DB12-DD03-38E8-4BEF-D2CDC6930DF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0117" y="545284"/>
          <a:ext cx="11006356" cy="6077794"/>
        </p:xfrm>
        <a:graphic>
          <a:graphicData uri="http://schemas.openxmlformats.org/drawingml/2006/table">
            <a:tbl>
              <a:tblPr/>
              <a:tblGrid>
                <a:gridCol w="2193958">
                  <a:extLst>
                    <a:ext uri="{9D8B030D-6E8A-4147-A177-3AD203B41FA5}">
                      <a16:colId xmlns:a16="http://schemas.microsoft.com/office/drawing/2014/main" val="3477020477"/>
                    </a:ext>
                  </a:extLst>
                </a:gridCol>
                <a:gridCol w="3199522">
                  <a:extLst>
                    <a:ext uri="{9D8B030D-6E8A-4147-A177-3AD203B41FA5}">
                      <a16:colId xmlns:a16="http://schemas.microsoft.com/office/drawing/2014/main" val="2802993389"/>
                    </a:ext>
                  </a:extLst>
                </a:gridCol>
                <a:gridCol w="5612876">
                  <a:extLst>
                    <a:ext uri="{9D8B030D-6E8A-4147-A177-3AD203B41FA5}">
                      <a16:colId xmlns:a16="http://schemas.microsoft.com/office/drawing/2014/main" val="2489570283"/>
                    </a:ext>
                  </a:extLst>
                </a:gridCol>
              </a:tblGrid>
              <a:tr h="200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+mn-lt"/>
                        </a:rPr>
                        <a:t>Locator Type</a:t>
                      </a:r>
                      <a:endParaRPr lang="en-IN" sz="1800">
                        <a:latin typeface="+mn-lt"/>
                      </a:endParaRPr>
                    </a:p>
                  </a:txBody>
                  <a:tcPr marL="47421" marR="47421" marT="23711" marB="237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+mn-lt"/>
                        </a:rPr>
                        <a:t>Syntax</a:t>
                      </a:r>
                      <a:endParaRPr lang="en-IN" sz="1800">
                        <a:latin typeface="+mn-lt"/>
                      </a:endParaRPr>
                    </a:p>
                  </a:txBody>
                  <a:tcPr marL="47421" marR="47421" marT="23711" marB="237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+mn-lt"/>
                        </a:rPr>
                        <a:t>Description / Example</a:t>
                      </a:r>
                      <a:endParaRPr lang="en-IN" sz="1800">
                        <a:latin typeface="+mn-lt"/>
                      </a:endParaRPr>
                    </a:p>
                  </a:txBody>
                  <a:tcPr marL="47421" marR="47421" marT="23711" marB="237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2412649"/>
                  </a:ext>
                </a:extLst>
              </a:tr>
              <a:tr h="512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+mn-lt"/>
                        </a:rPr>
                        <a:t>1. ID</a:t>
                      </a:r>
                      <a:endParaRPr lang="en-IN" sz="1800" dirty="0">
                        <a:latin typeface="+mn-lt"/>
                      </a:endParaRPr>
                    </a:p>
                  </a:txBody>
                  <a:tcPr marL="47421" marR="47421" marT="23711" marB="237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+mn-lt"/>
                        </a:rPr>
                        <a:t>By.ID("</a:t>
                      </a:r>
                      <a:r>
                        <a:rPr lang="en-IN" sz="1800" dirty="0" err="1">
                          <a:latin typeface="+mn-lt"/>
                        </a:rPr>
                        <a:t>id_value</a:t>
                      </a:r>
                      <a:r>
                        <a:rPr lang="en-IN" sz="1800" dirty="0">
                          <a:latin typeface="+mn-lt"/>
                        </a:rPr>
                        <a:t>")</a:t>
                      </a:r>
                    </a:p>
                  </a:txBody>
                  <a:tcPr marL="47421" marR="47421" marT="23711" marB="237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+mn-lt"/>
                        </a:rPr>
                        <a:t>Finds element by its </a:t>
                      </a:r>
                      <a:r>
                        <a:rPr lang="en-US" sz="1800" b="1" dirty="0">
                          <a:latin typeface="+mn-lt"/>
                        </a:rPr>
                        <a:t>id</a:t>
                      </a:r>
                      <a:r>
                        <a:rPr lang="en-US" sz="1800" dirty="0">
                          <a:latin typeface="+mn-lt"/>
                        </a:rPr>
                        <a:t> attribute. ✅ Most reliable and fast. Example: By.ID("username")</a:t>
                      </a:r>
                    </a:p>
                  </a:txBody>
                  <a:tcPr marL="47421" marR="47421" marT="23711" marB="237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2591965"/>
                  </a:ext>
                </a:extLst>
              </a:tr>
              <a:tr h="402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+mn-lt"/>
                        </a:rPr>
                        <a:t>2. Name</a:t>
                      </a:r>
                      <a:endParaRPr lang="en-IN" sz="1800">
                        <a:latin typeface="+mn-lt"/>
                      </a:endParaRPr>
                    </a:p>
                  </a:txBody>
                  <a:tcPr marL="47421" marR="47421" marT="23711" marB="237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</a:rPr>
                        <a:t>By.NAME("name_value")</a:t>
                      </a:r>
                    </a:p>
                  </a:txBody>
                  <a:tcPr marL="47421" marR="47421" marT="23711" marB="237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+mn-lt"/>
                        </a:rPr>
                        <a:t>Finds element by the </a:t>
                      </a:r>
                      <a:r>
                        <a:rPr lang="en-US" sz="1800" b="1">
                          <a:latin typeface="+mn-lt"/>
                        </a:rPr>
                        <a:t>name</a:t>
                      </a:r>
                      <a:r>
                        <a:rPr lang="en-US" sz="1800">
                          <a:latin typeface="+mn-lt"/>
                        </a:rPr>
                        <a:t> attribute. Example: By.NAME("user")</a:t>
                      </a:r>
                    </a:p>
                  </a:txBody>
                  <a:tcPr marL="47421" marR="47421" marT="23711" marB="237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3573179"/>
                  </a:ext>
                </a:extLst>
              </a:tr>
              <a:tr h="668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+mn-lt"/>
                        </a:rPr>
                        <a:t>3. Class Name</a:t>
                      </a:r>
                      <a:endParaRPr lang="en-IN" sz="1800" dirty="0">
                        <a:latin typeface="+mn-lt"/>
                      </a:endParaRPr>
                    </a:p>
                  </a:txBody>
                  <a:tcPr marL="47421" marR="47421" marT="23711" marB="237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latin typeface="+mn-lt"/>
                        </a:rPr>
                        <a:t>By.CLASS_NAME</a:t>
                      </a:r>
                      <a:r>
                        <a:rPr lang="en-US" sz="1800" dirty="0">
                          <a:latin typeface="+mn-lt"/>
                        </a:rPr>
                        <a:t>("</a:t>
                      </a:r>
                      <a:r>
                        <a:rPr lang="en-US" sz="1800" dirty="0" err="1">
                          <a:latin typeface="+mn-lt"/>
                        </a:rPr>
                        <a:t>class_value</a:t>
                      </a:r>
                      <a:r>
                        <a:rPr lang="en-US" sz="1800" dirty="0">
                          <a:latin typeface="+mn-lt"/>
                        </a:rPr>
                        <a:t>")</a:t>
                      </a:r>
                    </a:p>
                  </a:txBody>
                  <a:tcPr marL="47421" marR="47421" marT="23711" marB="237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+mn-lt"/>
                        </a:rPr>
                        <a:t>Finds elements by their </a:t>
                      </a:r>
                      <a:r>
                        <a:rPr lang="en-US" sz="1800" b="1">
                          <a:latin typeface="+mn-lt"/>
                        </a:rPr>
                        <a:t>class</a:t>
                      </a:r>
                      <a:r>
                        <a:rPr lang="en-US" sz="1800">
                          <a:latin typeface="+mn-lt"/>
                        </a:rPr>
                        <a:t> attribute. Example: By.CLASS_NAME("input-field")</a:t>
                      </a:r>
                    </a:p>
                  </a:txBody>
                  <a:tcPr marL="47421" marR="47421" marT="23711" marB="237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1594665"/>
                  </a:ext>
                </a:extLst>
              </a:tr>
              <a:tr h="512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+mn-lt"/>
                        </a:rPr>
                        <a:t>4. Tag Name</a:t>
                      </a:r>
                      <a:endParaRPr lang="en-IN" sz="1800">
                        <a:latin typeface="+mn-lt"/>
                      </a:endParaRPr>
                    </a:p>
                  </a:txBody>
                  <a:tcPr marL="47421" marR="47421" marT="23711" marB="237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</a:rPr>
                        <a:t>By.TAG_NAME("tag")</a:t>
                      </a:r>
                    </a:p>
                  </a:txBody>
                  <a:tcPr marL="47421" marR="47421" marT="23711" marB="237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+mn-lt"/>
                        </a:rPr>
                        <a:t>Finds elements by </a:t>
                      </a:r>
                      <a:r>
                        <a:rPr lang="en-US" sz="1800" b="1">
                          <a:latin typeface="+mn-lt"/>
                        </a:rPr>
                        <a:t>HTML tag</a:t>
                      </a:r>
                      <a:r>
                        <a:rPr lang="en-US" sz="1800">
                          <a:latin typeface="+mn-lt"/>
                        </a:rPr>
                        <a:t>, like input, button, a. Example: By.TAG_NAME("input")</a:t>
                      </a:r>
                    </a:p>
                  </a:txBody>
                  <a:tcPr marL="47421" marR="47421" marT="23711" marB="237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65926"/>
                  </a:ext>
                </a:extLst>
              </a:tr>
              <a:tr h="668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+mn-lt"/>
                        </a:rPr>
                        <a:t>5. Link Text</a:t>
                      </a:r>
                      <a:endParaRPr lang="en-IN" sz="1800">
                        <a:latin typeface="+mn-lt"/>
                      </a:endParaRPr>
                    </a:p>
                  </a:txBody>
                  <a:tcPr marL="47421" marR="47421" marT="23711" marB="237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 err="1">
                          <a:latin typeface="+mn-lt"/>
                        </a:rPr>
                        <a:t>By.LINK_TEXT</a:t>
                      </a:r>
                      <a:r>
                        <a:rPr lang="en-IN" sz="1800" dirty="0">
                          <a:latin typeface="+mn-lt"/>
                        </a:rPr>
                        <a:t>("text")</a:t>
                      </a:r>
                    </a:p>
                  </a:txBody>
                  <a:tcPr marL="47421" marR="47421" marT="23711" marB="237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+mn-lt"/>
                        </a:rPr>
                        <a:t>Finds </a:t>
                      </a:r>
                      <a:r>
                        <a:rPr lang="en-US" sz="1800" b="1" dirty="0">
                          <a:latin typeface="+mn-lt"/>
                        </a:rPr>
                        <a:t>links (&lt;a&gt; tags)</a:t>
                      </a:r>
                      <a:r>
                        <a:rPr lang="en-US" sz="1800" dirty="0">
                          <a:latin typeface="+mn-lt"/>
                        </a:rPr>
                        <a:t> by the exact visible text. Example: </a:t>
                      </a:r>
                      <a:r>
                        <a:rPr lang="en-US" sz="1800" dirty="0" err="1">
                          <a:latin typeface="+mn-lt"/>
                        </a:rPr>
                        <a:t>By.LINK_TEXT</a:t>
                      </a:r>
                      <a:r>
                        <a:rPr lang="en-US" sz="1800" dirty="0">
                          <a:latin typeface="+mn-lt"/>
                        </a:rPr>
                        <a:t>("Forgot Password")</a:t>
                      </a:r>
                    </a:p>
                  </a:txBody>
                  <a:tcPr marL="47421" marR="47421" marT="23711" marB="237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85456"/>
                  </a:ext>
                </a:extLst>
              </a:tr>
              <a:tr h="668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+mn-lt"/>
                        </a:rPr>
                        <a:t>6. Partial Link Text</a:t>
                      </a:r>
                      <a:endParaRPr lang="en-IN" sz="1800">
                        <a:latin typeface="+mn-lt"/>
                      </a:endParaRPr>
                    </a:p>
                  </a:txBody>
                  <a:tcPr marL="47421" marR="47421" marT="23711" marB="237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latin typeface="+mn-lt"/>
                        </a:rPr>
                        <a:t>By.PARTIAL_LINK_TEXT</a:t>
                      </a:r>
                      <a:r>
                        <a:rPr lang="en-US" sz="1800" dirty="0">
                          <a:latin typeface="+mn-lt"/>
                        </a:rPr>
                        <a:t>("text")</a:t>
                      </a:r>
                    </a:p>
                  </a:txBody>
                  <a:tcPr marL="47421" marR="47421" marT="23711" marB="237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+mn-lt"/>
                        </a:rPr>
                        <a:t>Finds links by </a:t>
                      </a:r>
                      <a:r>
                        <a:rPr lang="en-US" sz="1800" b="1" dirty="0">
                          <a:latin typeface="+mn-lt"/>
                        </a:rPr>
                        <a:t>partial match</a:t>
                      </a:r>
                      <a:r>
                        <a:rPr lang="en-US" sz="1800" dirty="0">
                          <a:latin typeface="+mn-lt"/>
                        </a:rPr>
                        <a:t> of text. Example: </a:t>
                      </a:r>
                      <a:r>
                        <a:rPr lang="en-US" sz="1800" dirty="0" err="1">
                          <a:latin typeface="+mn-lt"/>
                        </a:rPr>
                        <a:t>By.PARTIAL_LINK_TEXT</a:t>
                      </a:r>
                      <a:r>
                        <a:rPr lang="en-US" sz="1800" dirty="0">
                          <a:latin typeface="+mn-lt"/>
                        </a:rPr>
                        <a:t>("Forgot")</a:t>
                      </a:r>
                    </a:p>
                  </a:txBody>
                  <a:tcPr marL="47421" marR="47421" marT="23711" marB="237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941561"/>
                  </a:ext>
                </a:extLst>
              </a:tr>
              <a:tr h="980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+mn-lt"/>
                        </a:rPr>
                        <a:t>7. CSS Selector</a:t>
                      </a:r>
                      <a:endParaRPr lang="en-IN" sz="1800">
                        <a:latin typeface="+mn-lt"/>
                      </a:endParaRPr>
                    </a:p>
                  </a:txBody>
                  <a:tcPr marL="47421" marR="47421" marT="23711" marB="237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 err="1">
                          <a:latin typeface="+mn-lt"/>
                        </a:rPr>
                        <a:t>By.CSS_SELECTOR</a:t>
                      </a:r>
                      <a:r>
                        <a:rPr lang="en-IN" sz="1800" dirty="0">
                          <a:latin typeface="+mn-lt"/>
                        </a:rPr>
                        <a:t>("</a:t>
                      </a:r>
                      <a:r>
                        <a:rPr lang="en-IN" sz="1800" dirty="0" err="1">
                          <a:latin typeface="+mn-lt"/>
                        </a:rPr>
                        <a:t>css</a:t>
                      </a:r>
                      <a:r>
                        <a:rPr lang="en-IN" sz="1800" dirty="0">
                          <a:latin typeface="+mn-lt"/>
                        </a:rPr>
                        <a:t>")</a:t>
                      </a:r>
                    </a:p>
                  </a:txBody>
                  <a:tcPr marL="47421" marR="47421" marT="23711" marB="237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+mn-lt"/>
                        </a:rPr>
                        <a:t>Uses </a:t>
                      </a:r>
                      <a:r>
                        <a:rPr lang="en-US" sz="1800" b="1">
                          <a:latin typeface="+mn-lt"/>
                        </a:rPr>
                        <a:t>CSS syntax</a:t>
                      </a:r>
                      <a:r>
                        <a:rPr lang="en-US" sz="1800">
                          <a:latin typeface="+mn-lt"/>
                        </a:rPr>
                        <a:t> to locate elements. Very powerful and flexible. Example: By.CSS_SELECTOR("input#username") or By.CSS_SELECTOR(".btn.login")</a:t>
                      </a:r>
                    </a:p>
                  </a:txBody>
                  <a:tcPr marL="47421" marR="47421" marT="23711" marB="237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661022"/>
                  </a:ext>
                </a:extLst>
              </a:tr>
              <a:tr h="980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+mn-lt"/>
                        </a:rPr>
                        <a:t>8. XPath</a:t>
                      </a:r>
                      <a:endParaRPr lang="en-IN" sz="1800">
                        <a:latin typeface="+mn-lt"/>
                      </a:endParaRPr>
                    </a:p>
                  </a:txBody>
                  <a:tcPr marL="47421" marR="47421" marT="23711" marB="237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</a:rPr>
                        <a:t>By.XPATH("xpath")</a:t>
                      </a:r>
                    </a:p>
                  </a:txBody>
                  <a:tcPr marL="47421" marR="47421" marT="23711" marB="237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+mn-lt"/>
                        </a:rPr>
                        <a:t>Uses </a:t>
                      </a:r>
                      <a:r>
                        <a:rPr lang="en-US" sz="1800" b="1" dirty="0">
                          <a:latin typeface="+mn-lt"/>
                        </a:rPr>
                        <a:t>XML path expressions</a:t>
                      </a:r>
                      <a:r>
                        <a:rPr lang="en-US" sz="1800" dirty="0">
                          <a:latin typeface="+mn-lt"/>
                        </a:rPr>
                        <a:t> to navigate through the DOM. Extremely powerful, works when no other locator is available. Example: </a:t>
                      </a:r>
                      <a:r>
                        <a:rPr lang="en-US" sz="1800" dirty="0" err="1">
                          <a:latin typeface="+mn-lt"/>
                        </a:rPr>
                        <a:t>By.XPATH</a:t>
                      </a:r>
                      <a:r>
                        <a:rPr lang="en-US" sz="1800" dirty="0">
                          <a:latin typeface="+mn-lt"/>
                        </a:rPr>
                        <a:t>("//input[@id='username']")</a:t>
                      </a:r>
                    </a:p>
                  </a:txBody>
                  <a:tcPr marL="47421" marR="47421" marT="23711" marB="237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731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42547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26D4E-8480-268B-88A2-FD2853F6F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820" y="466531"/>
            <a:ext cx="10737980" cy="571043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Web elements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b="1" dirty="0"/>
              <a:t>What is </a:t>
            </a:r>
            <a:r>
              <a:rPr lang="en-IN" b="1" dirty="0" err="1"/>
              <a:t>WebElement</a:t>
            </a:r>
            <a:r>
              <a:rPr lang="en-IN" b="1" dirty="0"/>
              <a:t>?</a:t>
            </a:r>
          </a:p>
          <a:p>
            <a:pPr>
              <a:lnSpc>
                <a:spcPct val="150000"/>
              </a:lnSpc>
            </a:pPr>
            <a:r>
              <a:rPr lang="en-IN" dirty="0" err="1"/>
              <a:t>WebElement</a:t>
            </a:r>
            <a:r>
              <a:rPr lang="en-IN" dirty="0"/>
              <a:t> in Selenium represents an HTML element. </a:t>
            </a:r>
          </a:p>
          <a:p>
            <a:pPr>
              <a:lnSpc>
                <a:spcPct val="150000"/>
              </a:lnSpc>
            </a:pPr>
            <a:r>
              <a:rPr lang="en-IN" dirty="0"/>
              <a:t>It basically represents a DOM(Document Object Model) element in a HTML  document.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1197988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BC966-3E23-9BF5-4436-DC60A686D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0785"/>
            <a:ext cx="10515600" cy="5556178"/>
          </a:xfrm>
        </p:spPr>
        <p:txBody>
          <a:bodyPr/>
          <a:lstStyle/>
          <a:p>
            <a:pPr marL="0" indent="0">
              <a:buNone/>
            </a:pPr>
            <a:r>
              <a:rPr lang="en-IN" b="1" dirty="0" err="1"/>
              <a:t>WebElement</a:t>
            </a:r>
            <a:r>
              <a:rPr lang="en-IN" b="1" dirty="0"/>
              <a:t> Commands in Selenium Python: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3D1CA0-3D96-4CA3-B3FF-DF1ADB2D3524}"/>
              </a:ext>
            </a:extLst>
          </p:cNvPr>
          <p:cNvGraphicFramePr>
            <a:graphicFrameLocks noGrp="1"/>
          </p:cNvGraphicFramePr>
          <p:nvPr/>
        </p:nvGraphicFramePr>
        <p:xfrm>
          <a:off x="1174459" y="1224794"/>
          <a:ext cx="8814168" cy="5122578"/>
        </p:xfrm>
        <a:graphic>
          <a:graphicData uri="http://schemas.openxmlformats.org/drawingml/2006/table">
            <a:tbl>
              <a:tblPr/>
              <a:tblGrid>
                <a:gridCol w="2608976">
                  <a:extLst>
                    <a:ext uri="{9D8B030D-6E8A-4147-A177-3AD203B41FA5}">
                      <a16:colId xmlns:a16="http://schemas.microsoft.com/office/drawing/2014/main" val="2454145919"/>
                    </a:ext>
                  </a:extLst>
                </a:gridCol>
                <a:gridCol w="2164359">
                  <a:extLst>
                    <a:ext uri="{9D8B030D-6E8A-4147-A177-3AD203B41FA5}">
                      <a16:colId xmlns:a16="http://schemas.microsoft.com/office/drawing/2014/main" val="2524555367"/>
                    </a:ext>
                  </a:extLst>
                </a:gridCol>
                <a:gridCol w="4040833">
                  <a:extLst>
                    <a:ext uri="{9D8B030D-6E8A-4147-A177-3AD203B41FA5}">
                      <a16:colId xmlns:a16="http://schemas.microsoft.com/office/drawing/2014/main" val="1875820912"/>
                    </a:ext>
                  </a:extLst>
                </a:gridCol>
              </a:tblGrid>
              <a:tr h="291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+mn-lt"/>
                        </a:rPr>
                        <a:t>Command</a:t>
                      </a:r>
                      <a:endParaRPr lang="en-IN" sz="1800">
                        <a:latin typeface="+mn-lt"/>
                      </a:endParaRP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+mn-lt"/>
                        </a:rPr>
                        <a:t>Purpose</a:t>
                      </a:r>
                      <a:endParaRPr lang="en-IN" sz="1800">
                        <a:latin typeface="+mn-lt"/>
                      </a:endParaRP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+mn-lt"/>
                        </a:rPr>
                        <a:t>Example</a:t>
                      </a:r>
                      <a:endParaRPr lang="en-IN" sz="1800">
                        <a:latin typeface="+mn-lt"/>
                      </a:endParaRP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903584"/>
                  </a:ext>
                </a:extLst>
              </a:tr>
              <a:tr h="5104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 err="1">
                          <a:latin typeface="+mn-lt"/>
                        </a:rPr>
                        <a:t>send_keys</a:t>
                      </a:r>
                      <a:r>
                        <a:rPr lang="en-IN" sz="1800" dirty="0">
                          <a:latin typeface="+mn-lt"/>
                        </a:rPr>
                        <a:t>()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</a:rPr>
                        <a:t>Type text into input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</a:rPr>
                        <a:t>element.send_keys("admin")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8597084"/>
                  </a:ext>
                </a:extLst>
              </a:tr>
              <a:tr h="291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+mn-lt"/>
                        </a:rPr>
                        <a:t>click()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</a:rPr>
                        <a:t>Click on an element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</a:rPr>
                        <a:t>element.click()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2348076"/>
                  </a:ext>
                </a:extLst>
              </a:tr>
              <a:tr h="291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</a:rPr>
                        <a:t>clear()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</a:rPr>
                        <a:t>Clear text field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</a:rPr>
                        <a:t>element.clear()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2898640"/>
                  </a:ext>
                </a:extLst>
              </a:tr>
              <a:tr h="291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</a:rPr>
                        <a:t>submit()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</a:rPr>
                        <a:t>Submit a form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 err="1">
                          <a:latin typeface="+mn-lt"/>
                        </a:rPr>
                        <a:t>element.submit</a:t>
                      </a:r>
                      <a:r>
                        <a:rPr lang="en-IN" sz="1800" dirty="0">
                          <a:latin typeface="+mn-lt"/>
                        </a:rPr>
                        <a:t>()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2470450"/>
                  </a:ext>
                </a:extLst>
              </a:tr>
              <a:tr h="291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+mn-lt"/>
                        </a:rPr>
                        <a:t>text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</a:rPr>
                        <a:t>Get visible text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</a:rPr>
                        <a:t>element.text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9330220"/>
                  </a:ext>
                </a:extLst>
              </a:tr>
              <a:tr h="5104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</a:rPr>
                        <a:t>get_attribute()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</a:rPr>
                        <a:t>Get attribute value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 err="1">
                          <a:latin typeface="+mn-lt"/>
                        </a:rPr>
                        <a:t>element.get_attribute</a:t>
                      </a:r>
                      <a:r>
                        <a:rPr lang="en-IN" sz="1800" dirty="0">
                          <a:latin typeface="+mn-lt"/>
                        </a:rPr>
                        <a:t>("</a:t>
                      </a:r>
                      <a:r>
                        <a:rPr lang="en-IN" sz="1800" dirty="0" err="1">
                          <a:latin typeface="+mn-lt"/>
                        </a:rPr>
                        <a:t>href</a:t>
                      </a:r>
                      <a:r>
                        <a:rPr lang="en-IN" sz="1800" dirty="0">
                          <a:latin typeface="+mn-lt"/>
                        </a:rPr>
                        <a:t>")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35931"/>
                  </a:ext>
                </a:extLst>
              </a:tr>
              <a:tr h="5104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</a:rPr>
                        <a:t>value_of_css_property()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</a:rPr>
                        <a:t>Get CSS style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latin typeface="+mn-lt"/>
                        </a:rPr>
                        <a:t>element.value_of_css_property</a:t>
                      </a:r>
                      <a:r>
                        <a:rPr lang="en-US" sz="1800" dirty="0">
                          <a:latin typeface="+mn-lt"/>
                        </a:rPr>
                        <a:t>("color")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1275152"/>
                  </a:ext>
                </a:extLst>
              </a:tr>
              <a:tr h="291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</a:rPr>
                        <a:t>is_displayed()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</a:rPr>
                        <a:t>Check if visible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</a:rPr>
                        <a:t>element.is_displayed()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197077"/>
                  </a:ext>
                </a:extLst>
              </a:tr>
              <a:tr h="291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</a:rPr>
                        <a:t>is_enabled()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</a:rPr>
                        <a:t>Check if active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</a:rPr>
                        <a:t>element.is_enabled()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1341749"/>
                  </a:ext>
                </a:extLst>
              </a:tr>
              <a:tr h="291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</a:rPr>
                        <a:t>is_selected()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</a:rPr>
                        <a:t>Check if checked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</a:rPr>
                        <a:t>element.is_selected()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406392"/>
                  </a:ext>
                </a:extLst>
              </a:tr>
              <a:tr h="291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</a:rPr>
                        <a:t>location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</a:rPr>
                        <a:t>Get element position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</a:rPr>
                        <a:t>element.location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6714944"/>
                  </a:ext>
                </a:extLst>
              </a:tr>
              <a:tr h="5104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</a:rPr>
                        <a:t>save_screenshot()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+mn-lt"/>
                        </a:rPr>
                        <a:t>Take screenshot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latin typeface="+mn-lt"/>
                        </a:rPr>
                        <a:t>driver.save_screenshot</a:t>
                      </a:r>
                      <a:r>
                        <a:rPr lang="en-US" sz="1800" dirty="0">
                          <a:latin typeface="+mn-lt"/>
                        </a:rPr>
                        <a:t>("page.png")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268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7898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D3A37-EDFC-FC7B-6577-DFCF5C69F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487A4-7F27-314E-BCED-921090D77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675" y="536895"/>
            <a:ext cx="10821797" cy="576323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Logging into a website with Selenium</a:t>
            </a:r>
          </a:p>
          <a:p>
            <a:r>
              <a:rPr lang="en-US" b="1" dirty="0"/>
              <a:t>Step-by-step login flow</a:t>
            </a:r>
          </a:p>
          <a:p>
            <a:r>
              <a:rPr lang="en-US" b="1" dirty="0"/>
              <a:t>Go to the login page</a:t>
            </a:r>
            <a:r>
              <a:rPr lang="en-US" dirty="0"/>
              <a:t> – use </a:t>
            </a:r>
            <a:r>
              <a:rPr lang="en-US" dirty="0" err="1"/>
              <a:t>driver.get</a:t>
            </a:r>
            <a:r>
              <a:rPr lang="en-US" dirty="0"/>
              <a:t>().</a:t>
            </a:r>
          </a:p>
          <a:p>
            <a:r>
              <a:rPr lang="en-US" b="1" dirty="0"/>
              <a:t>Enter your credentials</a:t>
            </a:r>
            <a:r>
              <a:rPr lang="en-US" dirty="0"/>
              <a:t> – locate input fields and call .</a:t>
            </a:r>
            <a:r>
              <a:rPr lang="en-US" dirty="0" err="1"/>
              <a:t>send_keys</a:t>
            </a:r>
            <a:r>
              <a:rPr lang="en-US" dirty="0"/>
              <a:t>().</a:t>
            </a:r>
          </a:p>
          <a:p>
            <a:r>
              <a:rPr lang="en-US" b="1" dirty="0"/>
              <a:t>Submit the form</a:t>
            </a:r>
            <a:r>
              <a:rPr lang="en-US" dirty="0"/>
              <a:t> – find the button and click it with .click().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6061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9058E-6847-A74F-F3A2-4C88A4303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127" y="382556"/>
            <a:ext cx="10644673" cy="579440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/>
              <a:t>WAITS</a:t>
            </a:r>
          </a:p>
          <a:p>
            <a:pPr>
              <a:lnSpc>
                <a:spcPct val="150000"/>
              </a:lnSpc>
            </a:pPr>
            <a:r>
              <a:rPr lang="en-US" dirty="0"/>
              <a:t>In Selenium, both static and dynamic waits are techniques used to control the timing of test script execution and synchronization with web elements. </a:t>
            </a:r>
          </a:p>
          <a:p>
            <a:pPr>
              <a:lnSpc>
                <a:spcPct val="150000"/>
              </a:lnSpc>
            </a:pPr>
            <a:r>
              <a:rPr lang="en-US" dirty="0"/>
              <a:t>They help ensure that the necessary elements are available or in the desired state before proceeding further.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33277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94193-CCF5-2405-0142-959845BF8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89F1B-CA07-91DE-E958-EF6C82EFD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675" y="536895"/>
            <a:ext cx="10821797" cy="576323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There are two main ways to handle this: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1.time.sleep() (the brute-force way)</a:t>
            </a:r>
            <a:r>
              <a:rPr lang="en-US" dirty="0"/>
              <a:t> You can just pause the script for a few seconds before scraping, but it's hit or miss.</a:t>
            </a:r>
          </a:p>
          <a:p>
            <a:pPr>
              <a:lnSpc>
                <a:spcPct val="150000"/>
              </a:lnSpc>
            </a:pPr>
            <a:r>
              <a:rPr lang="en-US" dirty="0"/>
              <a:t> Sometimes it's too short, sometimes way too long. Network speed, CPU load, or slow third-party scripts can all throw it off and you'll either miss elements or waste time waiting.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59844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1ADE4-E24D-7164-C539-919558B48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135" y="531845"/>
            <a:ext cx="10664889" cy="5645118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>
                <a:effectLst/>
                <a:highlight>
                  <a:srgbClr val="FFFFFF"/>
                </a:highlight>
                <a:latin typeface="source-sans-pro"/>
              </a:rPr>
              <a:t>What are Web Tables?</a:t>
            </a:r>
          </a:p>
          <a:p>
            <a:pPr algn="l">
              <a:lnSpc>
                <a:spcPct val="150000"/>
              </a:lnSpc>
            </a:pPr>
            <a:r>
              <a:rPr lang="en-US" b="0" i="0" dirty="0">
                <a:effectLst/>
                <a:highlight>
                  <a:srgbClr val="FFFFFF"/>
                </a:highlight>
                <a:latin typeface="source-sans-pro"/>
              </a:rPr>
              <a:t>Web Tables are like normal tables where the data is presented in a structured form using rows and columns.</a:t>
            </a:r>
          </a:p>
          <a:p>
            <a:pPr algn="l">
              <a:lnSpc>
                <a:spcPct val="150000"/>
              </a:lnSpc>
            </a:pPr>
            <a:r>
              <a:rPr lang="en-US" b="0" i="0" dirty="0">
                <a:effectLst/>
                <a:highlight>
                  <a:srgbClr val="FFFFFF"/>
                </a:highlight>
                <a:latin typeface="source-sans-pro"/>
              </a:rPr>
              <a:t> The only difference is that they are displayed on the web with the help of HTML code.</a:t>
            </a:r>
          </a:p>
          <a:p>
            <a:pPr algn="l">
              <a:lnSpc>
                <a:spcPct val="150000"/>
              </a:lnSpc>
            </a:pPr>
            <a:r>
              <a:rPr lang="en-US" b="1" i="0" dirty="0">
                <a:effectLst/>
                <a:highlight>
                  <a:srgbClr val="FFFFFF"/>
                </a:highlight>
                <a:latin typeface="source-sans-pro"/>
              </a:rPr>
              <a:t>&lt;table&gt;</a:t>
            </a:r>
            <a:r>
              <a:rPr lang="en-US" b="0" i="0" dirty="0">
                <a:effectLst/>
                <a:highlight>
                  <a:srgbClr val="FFFFFF"/>
                </a:highlight>
                <a:latin typeface="source-sans-pro"/>
              </a:rPr>
              <a:t> is the HTML tag that is used to define a web table.</a:t>
            </a:r>
          </a:p>
          <a:p>
            <a:pPr algn="l">
              <a:lnSpc>
                <a:spcPct val="150000"/>
              </a:lnSpc>
            </a:pPr>
            <a:r>
              <a:rPr lang="en-US" b="0" i="0" dirty="0">
                <a:effectLst/>
                <a:highlight>
                  <a:srgbClr val="FFFFFF"/>
                </a:highlight>
                <a:latin typeface="source-sans-pro"/>
              </a:rPr>
              <a:t> While </a:t>
            </a:r>
            <a:r>
              <a:rPr lang="en-US" b="1" i="0" dirty="0">
                <a:effectLst/>
                <a:highlight>
                  <a:srgbClr val="FFFFFF"/>
                </a:highlight>
                <a:latin typeface="source-sans-pro"/>
              </a:rPr>
              <a:t>&lt;</a:t>
            </a:r>
            <a:r>
              <a:rPr lang="en-US" b="1" i="0" dirty="0" err="1">
                <a:effectLst/>
                <a:highlight>
                  <a:srgbClr val="FFFFFF"/>
                </a:highlight>
                <a:latin typeface="source-sans-pro"/>
              </a:rPr>
              <a:t>th</a:t>
            </a:r>
            <a:r>
              <a:rPr lang="en-US" b="1" i="0" dirty="0">
                <a:effectLst/>
                <a:highlight>
                  <a:srgbClr val="FFFFFF"/>
                </a:highlight>
                <a:latin typeface="source-sans-pro"/>
              </a:rPr>
              <a:t>&gt;</a:t>
            </a:r>
            <a:r>
              <a:rPr lang="en-US" b="0" i="0" dirty="0">
                <a:effectLst/>
                <a:highlight>
                  <a:srgbClr val="FFFFFF"/>
                </a:highlight>
                <a:latin typeface="source-sans-pro"/>
              </a:rPr>
              <a:t> is used for defining the header of the table, </a:t>
            </a:r>
            <a:r>
              <a:rPr lang="en-US" b="1" i="0" dirty="0">
                <a:effectLst/>
                <a:highlight>
                  <a:srgbClr val="FFFFFF"/>
                </a:highlight>
                <a:latin typeface="source-sans-pro"/>
              </a:rPr>
              <a:t>&lt;tr&gt;</a:t>
            </a:r>
            <a:r>
              <a:rPr lang="en-US" b="0" i="0" dirty="0">
                <a:effectLst/>
                <a:highlight>
                  <a:srgbClr val="FFFFFF"/>
                </a:highlight>
                <a:latin typeface="source-sans-pro"/>
              </a:rPr>
              <a:t> and </a:t>
            </a:r>
            <a:r>
              <a:rPr lang="en-US" b="1" i="0" dirty="0">
                <a:effectLst/>
                <a:highlight>
                  <a:srgbClr val="FFFFFF"/>
                </a:highlight>
                <a:latin typeface="source-sans-pro"/>
              </a:rPr>
              <a:t>&lt;td&gt;</a:t>
            </a:r>
            <a:r>
              <a:rPr lang="en-US" b="0" i="0" dirty="0">
                <a:effectLst/>
                <a:highlight>
                  <a:srgbClr val="FFFFFF"/>
                </a:highlight>
                <a:latin typeface="source-sans-pro"/>
              </a:rPr>
              <a:t> tags are used for defining rows and columns respectively for the web table.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15659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6D14A-ECF8-6FC1-138F-AEC9EEE5F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118" y="550507"/>
            <a:ext cx="10616682" cy="5729094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Example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A7642B-259C-BE9A-A67F-F5B934ED9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220" y="1102113"/>
            <a:ext cx="7123266" cy="510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9700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7B180-3A45-67EF-B42C-C38E24012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465" y="503853"/>
            <a:ext cx="10663335" cy="5673110"/>
          </a:xfrm>
        </p:spPr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effectLst/>
                <a:highlight>
                  <a:srgbClr val="FFFFFF"/>
                </a:highlight>
                <a:latin typeface="source-sans-pro"/>
              </a:rPr>
              <a:t>Types of Web Tables</a:t>
            </a:r>
          </a:p>
          <a:p>
            <a:pPr algn="l">
              <a:lnSpc>
                <a:spcPct val="150000"/>
              </a:lnSpc>
            </a:pPr>
            <a:r>
              <a:rPr lang="en-US" b="0" i="0" dirty="0">
                <a:effectLst/>
                <a:highlight>
                  <a:srgbClr val="FFFFFF"/>
                </a:highlight>
                <a:latin typeface="source-sans-pro"/>
              </a:rPr>
              <a:t>Depending on the data in the table, web tables can be classified as Static web tables and Dynamic web tables.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effectLst/>
                <a:highlight>
                  <a:srgbClr val="FFFFFF"/>
                </a:highlight>
                <a:latin typeface="source-sans-pro"/>
              </a:rPr>
              <a:t>1. Static Web Tables</a:t>
            </a:r>
          </a:p>
          <a:p>
            <a:pPr algn="l">
              <a:lnSpc>
                <a:spcPct val="150000"/>
              </a:lnSpc>
            </a:pPr>
            <a:r>
              <a:rPr lang="en-US" b="0" i="0" dirty="0">
                <a:effectLst/>
                <a:highlight>
                  <a:srgbClr val="FFFFFF"/>
                </a:highlight>
                <a:latin typeface="source-sans-pro"/>
              </a:rPr>
              <a:t>These tables have fixed data that remains unchanged throughout. Due to the static nature of their content, they are called Static web tables.</a:t>
            </a:r>
          </a:p>
        </p:txBody>
      </p:sp>
    </p:spTree>
    <p:extLst>
      <p:ext uri="{BB962C8B-B14F-4D97-AF65-F5344CB8AC3E}">
        <p14:creationId xmlns:p14="http://schemas.microsoft.com/office/powerpoint/2010/main" val="1915263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E36F4-2025-F4BA-E6A8-3E1C9F901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796" y="503853"/>
            <a:ext cx="10654004" cy="5673110"/>
          </a:xfrm>
        </p:spPr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effectLst/>
                <a:highlight>
                  <a:srgbClr val="FFFFFF"/>
                </a:highlight>
                <a:latin typeface="source-sans-pro"/>
              </a:rPr>
              <a:t>2. Dynamic Web Tables</a:t>
            </a:r>
          </a:p>
          <a:p>
            <a:pPr algn="l">
              <a:lnSpc>
                <a:spcPct val="150000"/>
              </a:lnSpc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source-sans-pro"/>
              </a:rPr>
              <a:t>These tables have data that changes over time, and hence the number of rows and columns might also change depending upon the data shifts.</a:t>
            </a:r>
          </a:p>
          <a:p>
            <a:pPr algn="l">
              <a:lnSpc>
                <a:spcPct val="150000"/>
              </a:lnSpc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source-sans-pro"/>
              </a:rPr>
              <a:t> Due to the dynamic nature of their content, they are called Dynamic web tables.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93063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B4F4B-ABD9-500B-F740-CEBBD67DE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7788" y="485192"/>
            <a:ext cx="10626012" cy="569177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1.To calculate the total number of rows:</a:t>
            </a:r>
          </a:p>
          <a:p>
            <a:r>
              <a:rPr lang="en-US" dirty="0"/>
              <a:t>this method returns a list, we can obtain the row count with the help of </a:t>
            </a:r>
            <a:r>
              <a:rPr lang="en-US" dirty="0" err="1"/>
              <a:t>len</a:t>
            </a:r>
            <a:r>
              <a:rPr lang="en-US" dirty="0"/>
              <a:t> method.</a:t>
            </a:r>
          </a:p>
          <a:p>
            <a:pPr marL="0" indent="0">
              <a:buNone/>
            </a:pPr>
            <a:r>
              <a:rPr lang="en-US" b="1" dirty="0"/>
              <a:t>2.To calculate the total number of columns:</a:t>
            </a:r>
          </a:p>
          <a:p>
            <a:r>
              <a:rPr lang="en-US" dirty="0"/>
              <a:t>this method returns a list, we can obtain the row count with the help of </a:t>
            </a:r>
            <a:r>
              <a:rPr lang="en-US" dirty="0" err="1"/>
              <a:t>len</a:t>
            </a:r>
            <a:r>
              <a:rPr lang="en-US" dirty="0"/>
              <a:t> method. </a:t>
            </a:r>
          </a:p>
          <a:p>
            <a:r>
              <a:rPr lang="en-US" dirty="0"/>
              <a:t>We have to fix a row number before calculating the column count with &lt;td&gt;.</a:t>
            </a:r>
          </a:p>
          <a:p>
            <a:r>
              <a:rPr lang="en-US" dirty="0"/>
              <a:t>If we set row 1, we have to use &lt;</a:t>
            </a:r>
            <a:r>
              <a:rPr lang="en-US" dirty="0" err="1"/>
              <a:t>th</a:t>
            </a:r>
            <a:r>
              <a:rPr lang="en-US" dirty="0"/>
              <a:t>&gt; for the columns.</a:t>
            </a:r>
          </a:p>
          <a:p>
            <a:r>
              <a:rPr lang="en-US" dirty="0"/>
              <a:t>For any other row except 1, we have to use &lt;td&gt;.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8005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6C036-F90B-C972-CAB4-FC672C686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820" y="475862"/>
            <a:ext cx="10737980" cy="5701102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3.To get the headers in a table:</a:t>
            </a:r>
          </a:p>
          <a:p>
            <a:pPr>
              <a:lnSpc>
                <a:spcPct val="150000"/>
              </a:lnSpc>
            </a:pPr>
            <a:r>
              <a:rPr lang="en-US" dirty="0"/>
              <a:t>We have to iterate through row number 1, then move to &lt;</a:t>
            </a:r>
            <a:r>
              <a:rPr lang="en-US" dirty="0" err="1"/>
              <a:t>th</a:t>
            </a:r>
            <a:r>
              <a:rPr lang="en-US" dirty="0"/>
              <a:t>&gt;.</a:t>
            </a:r>
          </a:p>
          <a:p>
            <a:pPr>
              <a:lnSpc>
                <a:spcPct val="150000"/>
              </a:lnSpc>
            </a:pPr>
            <a:r>
              <a:rPr lang="en-US" dirty="0"/>
              <a:t>Once we get hold of the first row, we shall use the text method to get all the table headers.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4.To get all the cell values of a particular row:</a:t>
            </a:r>
          </a:p>
          <a:p>
            <a:pPr>
              <a:lnSpc>
                <a:spcPct val="150000"/>
              </a:lnSpc>
            </a:pPr>
            <a:r>
              <a:rPr lang="en-US" dirty="0"/>
              <a:t>We have to iterate through the columns of a particular row number [greater than 1], having &lt;td&gt; tag.</a:t>
            </a:r>
          </a:p>
          <a:p>
            <a:pPr>
              <a:lnSpc>
                <a:spcPct val="150000"/>
              </a:lnSpc>
            </a:pPr>
            <a:r>
              <a:rPr lang="en-US" dirty="0"/>
              <a:t>Once we get hold of all the values in that particular row, we shall use the text method to get all the cell data.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41310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10745-303D-EEA5-903C-FEDABEBDE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12" y="559837"/>
            <a:ext cx="10898155" cy="579431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/>
              <a:t>Image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What are broken images on a Web Page?</a:t>
            </a:r>
          </a:p>
          <a:p>
            <a:pPr>
              <a:lnSpc>
                <a:spcPct val="150000"/>
              </a:lnSpc>
            </a:pPr>
            <a:r>
              <a:rPr lang="en-US" dirty="0"/>
              <a:t>There are cases where an image on the web page does not load properly, and we see "Failed to load image" or similar error messages. </a:t>
            </a:r>
          </a:p>
          <a:p>
            <a:pPr>
              <a:lnSpc>
                <a:spcPct val="150000"/>
              </a:lnSpc>
            </a:pPr>
            <a:r>
              <a:rPr lang="en-US" dirty="0"/>
              <a:t>In such cases, the image is either corrupt or the image is not at the specified path. </a:t>
            </a:r>
          </a:p>
          <a:p>
            <a:pPr>
              <a:lnSpc>
                <a:spcPct val="150000"/>
              </a:lnSpc>
            </a:pPr>
            <a:r>
              <a:rPr lang="en-US" dirty="0"/>
              <a:t>A broken image on a web page is a link that is associated with the image, and the link is not working.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21027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36153-A88C-B8CA-58E8-08030C132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457" y="513184"/>
            <a:ext cx="10635343" cy="5663779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Why should you check for broken images?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Here are the two major reasons for checking for broken images on websites: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Broken images on a website hamper the end-user experience, which could negatively impact the growth of the product.</a:t>
            </a:r>
          </a:p>
          <a:p>
            <a:pPr>
              <a:lnSpc>
                <a:spcPct val="150000"/>
              </a:lnSpc>
            </a:pPr>
            <a:r>
              <a:rPr lang="en-US" dirty="0"/>
              <a:t>Images are an essential part of the content marketing strategy. </a:t>
            </a:r>
          </a:p>
          <a:p>
            <a:pPr>
              <a:lnSpc>
                <a:spcPct val="150000"/>
              </a:lnSpc>
            </a:pPr>
            <a:r>
              <a:rPr lang="en-US" dirty="0"/>
              <a:t>However, broken images could create SEO issues. </a:t>
            </a:r>
          </a:p>
          <a:p>
            <a:pPr>
              <a:lnSpc>
                <a:spcPct val="150000"/>
              </a:lnSpc>
            </a:pPr>
            <a:r>
              <a:rPr lang="en-US" dirty="0"/>
              <a:t>Images with missing ALT tags and broken internal images are problematic from an SEO point of view and should be looked into on a high priority.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12957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885CA-3DD3-0787-6868-DAB0B27A6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" y="522514"/>
            <a:ext cx="10570029" cy="565444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How Do You Handle a Broken Image in Selenium?</a:t>
            </a:r>
          </a:p>
          <a:p>
            <a:pPr>
              <a:lnSpc>
                <a:spcPct val="150000"/>
              </a:lnSpc>
            </a:pPr>
            <a:r>
              <a:rPr lang="en-US" dirty="0"/>
              <a:t> broken  image is a link that does not show up as a picture. </a:t>
            </a:r>
          </a:p>
          <a:p>
            <a:pPr>
              <a:lnSpc>
                <a:spcPct val="150000"/>
              </a:lnSpc>
            </a:pPr>
            <a:r>
              <a:rPr lang="en-US" dirty="0"/>
              <a:t>By clicking on it, the end-user is redirected to a distorted picture and a 404 error notification. </a:t>
            </a:r>
          </a:p>
          <a:p>
            <a:pPr>
              <a:lnSpc>
                <a:spcPct val="150000"/>
              </a:lnSpc>
            </a:pPr>
            <a:r>
              <a:rPr lang="en-US" dirty="0"/>
              <a:t>This error means that the image is not loading properly. </a:t>
            </a:r>
          </a:p>
          <a:p>
            <a:pPr>
              <a:lnSpc>
                <a:spcPct val="150000"/>
              </a:lnSpc>
            </a:pPr>
            <a:r>
              <a:rPr lang="en-US" dirty="0"/>
              <a:t>There can be several reasons for this like incorrect image format or </a:t>
            </a:r>
            <a:r>
              <a:rPr lang="en-US" dirty="0" err="1"/>
              <a:t>URL,or</a:t>
            </a:r>
            <a:r>
              <a:rPr lang="en-US" dirty="0"/>
              <a:t> server issues.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08011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457AD-BBDD-1409-1420-43B820D15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441" y="503854"/>
            <a:ext cx="10579359" cy="567311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Steps for fixing broken images in Selenium:</a:t>
            </a:r>
          </a:p>
          <a:p>
            <a:pPr>
              <a:lnSpc>
                <a:spcPct val="150000"/>
              </a:lnSpc>
            </a:pPr>
            <a:r>
              <a:rPr lang="en-US" dirty="0"/>
              <a:t>Open the browser and find all the images using &lt;</a:t>
            </a:r>
            <a:r>
              <a:rPr lang="en-US" dirty="0" err="1"/>
              <a:t>img</a:t>
            </a:r>
            <a:r>
              <a:rPr lang="en-US" dirty="0"/>
              <a:t>&gt; attribute with the </a:t>
            </a:r>
            <a:r>
              <a:rPr lang="en-US" dirty="0" err="1"/>
              <a:t>find_elements</a:t>
            </a:r>
            <a:r>
              <a:rPr lang="en-US" dirty="0"/>
              <a:t> method</a:t>
            </a:r>
          </a:p>
          <a:p>
            <a:pPr>
              <a:lnSpc>
                <a:spcPct val="150000"/>
              </a:lnSpc>
            </a:pPr>
            <a:r>
              <a:rPr lang="en-US" dirty="0"/>
              <a:t>Iterate on each image</a:t>
            </a:r>
          </a:p>
          <a:p>
            <a:pPr>
              <a:lnSpc>
                <a:spcPct val="150000"/>
              </a:lnSpc>
            </a:pPr>
            <a:r>
              <a:rPr lang="en-US" dirty="0"/>
              <a:t>Use the get method on the image and retrieve its status code</a:t>
            </a:r>
          </a:p>
          <a:p>
            <a:pPr>
              <a:lnSpc>
                <a:spcPct val="150000"/>
              </a:lnSpc>
            </a:pPr>
            <a:r>
              <a:rPr lang="en-US" dirty="0"/>
              <a:t>Assert whether the status code is 200, if it is 200, it is fine, if not, then it is a broken image.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Broken image--&gt;</a:t>
            </a:r>
            <a:r>
              <a:rPr lang="en-US" b="1" dirty="0" err="1"/>
              <a:t>img</a:t>
            </a:r>
            <a:r>
              <a:rPr lang="en-US" b="1" dirty="0"/>
              <a:t> tag &amp; </a:t>
            </a:r>
            <a:r>
              <a:rPr lang="en-US" b="1" dirty="0" err="1"/>
              <a:t>src</a:t>
            </a:r>
            <a:r>
              <a:rPr lang="en-US" b="1" dirty="0"/>
              <a:t> attribute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5684078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38A0A-18A9-36DD-777E-D3EE13056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449" y="615820"/>
            <a:ext cx="10607351" cy="556114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There are different HTTP status codes, and a few of them are as below:</a:t>
            </a:r>
          </a:p>
          <a:p>
            <a:pPr marL="0" indent="0">
              <a:buNone/>
            </a:pPr>
            <a:r>
              <a:rPr lang="en-US" dirty="0"/>
              <a:t>200 – Valid </a:t>
            </a:r>
            <a:r>
              <a:rPr lang="en-US" dirty="0" err="1"/>
              <a:t>Link,image</a:t>
            </a:r>
            <a:r>
              <a:rPr lang="en-US" dirty="0"/>
              <a:t>/success</a:t>
            </a:r>
          </a:p>
          <a:p>
            <a:pPr marL="0" indent="0">
              <a:buNone/>
            </a:pPr>
            <a:r>
              <a:rPr lang="en-US" dirty="0"/>
              <a:t>301/302 - Page redirection temporary/permanent</a:t>
            </a:r>
          </a:p>
          <a:p>
            <a:pPr marL="0" indent="0">
              <a:buNone/>
            </a:pPr>
            <a:r>
              <a:rPr lang="en-US" dirty="0"/>
              <a:t>404 – Page not found</a:t>
            </a:r>
          </a:p>
          <a:p>
            <a:pPr marL="0" indent="0">
              <a:buNone/>
            </a:pPr>
            <a:r>
              <a:rPr lang="en-US" dirty="0"/>
              <a:t>400 – Bad request</a:t>
            </a:r>
          </a:p>
          <a:p>
            <a:pPr marL="0" indent="0">
              <a:buNone/>
            </a:pPr>
            <a:r>
              <a:rPr lang="en-US" dirty="0"/>
              <a:t>401 – Unauthorized</a:t>
            </a:r>
          </a:p>
          <a:p>
            <a:pPr marL="0" indent="0">
              <a:buNone/>
            </a:pPr>
            <a:r>
              <a:rPr lang="en-US" dirty="0"/>
              <a:t>500 – Internal Server Error</a:t>
            </a:r>
          </a:p>
          <a:p>
            <a:pPr marL="0" indent="0">
              <a:buNone/>
            </a:pPr>
            <a:r>
              <a:rPr lang="en-US" dirty="0"/>
              <a:t>We will be using these HTTP codes in our tests to ensure that the link is valid or not.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12510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5D8B4-356E-4327-2F27-41B134B64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2DD8B-A382-F23F-283C-4E5709171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675" y="536895"/>
            <a:ext cx="10821797" cy="5763237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To extract image</a:t>
            </a:r>
          </a:p>
          <a:p>
            <a:pPr marL="0" indent="0">
              <a:buNone/>
            </a:pPr>
            <a:r>
              <a:rPr lang="en-IN" dirty="0"/>
              <a:t>import selenium</a:t>
            </a:r>
            <a:br>
              <a:rPr lang="en-IN" dirty="0"/>
            </a:br>
            <a:r>
              <a:rPr lang="en-IN" dirty="0"/>
              <a:t>from selenium import </a:t>
            </a:r>
            <a:r>
              <a:rPr lang="en-IN" dirty="0" err="1"/>
              <a:t>webdriver</a:t>
            </a:r>
            <a:br>
              <a:rPr lang="en-IN" dirty="0"/>
            </a:br>
            <a:r>
              <a:rPr lang="en-IN" dirty="0"/>
              <a:t>from selenium.webdriver.common.by import By</a:t>
            </a:r>
            <a:br>
              <a:rPr lang="en-IN" dirty="0"/>
            </a:br>
            <a:r>
              <a:rPr lang="en-IN" dirty="0"/>
              <a:t>import time as t</a:t>
            </a:r>
            <a:br>
              <a:rPr lang="en-IN" dirty="0"/>
            </a:br>
            <a:r>
              <a:rPr lang="en-IN" dirty="0"/>
              <a:t>a=</a:t>
            </a:r>
            <a:r>
              <a:rPr lang="en-IN" dirty="0" err="1"/>
              <a:t>webdriver.Chrome</a:t>
            </a:r>
            <a:r>
              <a:rPr lang="en-IN" dirty="0"/>
              <a:t>()</a:t>
            </a:r>
            <a:br>
              <a:rPr lang="en-IN" dirty="0"/>
            </a:br>
            <a:r>
              <a:rPr lang="en-IN" dirty="0" err="1"/>
              <a:t>a.get</a:t>
            </a:r>
            <a:r>
              <a:rPr lang="en-IN" dirty="0"/>
              <a:t>("https://www.amazon.in/")</a:t>
            </a:r>
            <a:br>
              <a:rPr lang="en-IN" dirty="0"/>
            </a:br>
            <a:r>
              <a:rPr lang="en-IN" dirty="0" err="1"/>
              <a:t>t.sleep</a:t>
            </a:r>
            <a:r>
              <a:rPr lang="en-IN" dirty="0"/>
              <a:t>(</a:t>
            </a:r>
            <a:r>
              <a:rPr lang="en-IN" b="1" dirty="0"/>
              <a:t>5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images = </a:t>
            </a:r>
            <a:r>
              <a:rPr lang="en-IN" dirty="0" err="1"/>
              <a:t>a.find_elements</a:t>
            </a:r>
            <a:r>
              <a:rPr lang="en-IN" dirty="0"/>
              <a:t>(</a:t>
            </a:r>
            <a:r>
              <a:rPr lang="en-IN" dirty="0" err="1"/>
              <a:t>By.TAG_NAME</a:t>
            </a:r>
            <a:r>
              <a:rPr lang="en-IN" b="1" dirty="0"/>
              <a:t>, </a:t>
            </a:r>
            <a:r>
              <a:rPr lang="en-IN" dirty="0"/>
              <a:t>"</a:t>
            </a:r>
            <a:r>
              <a:rPr lang="en-IN" dirty="0" err="1"/>
              <a:t>img</a:t>
            </a:r>
            <a:r>
              <a:rPr lang="en-IN" dirty="0"/>
              <a:t>")</a:t>
            </a:r>
            <a:br>
              <a:rPr lang="en-IN" dirty="0"/>
            </a:br>
            <a:r>
              <a:rPr lang="en-IN" dirty="0"/>
              <a:t>for </a:t>
            </a:r>
            <a:r>
              <a:rPr lang="en-IN" dirty="0" err="1"/>
              <a:t>img</a:t>
            </a:r>
            <a:r>
              <a:rPr lang="en-IN" dirty="0"/>
              <a:t> in images:</a:t>
            </a:r>
            <a:br>
              <a:rPr lang="en-IN" dirty="0"/>
            </a:br>
            <a:r>
              <a:rPr lang="en-IN" dirty="0"/>
              <a:t>    print(</a:t>
            </a:r>
            <a:r>
              <a:rPr lang="en-IN" dirty="0" err="1"/>
              <a:t>img.get_attribute</a:t>
            </a:r>
            <a:r>
              <a:rPr lang="en-IN" dirty="0"/>
              <a:t>("</a:t>
            </a:r>
            <a:r>
              <a:rPr lang="en-IN" dirty="0" err="1"/>
              <a:t>src</a:t>
            </a:r>
            <a:r>
              <a:rPr lang="en-IN" dirty="0"/>
              <a:t>"))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70019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1B0D76CD-E9E5-1A24-B488-F86606BF04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7075" y="865061"/>
            <a:ext cx="10098598" cy="5016758"/>
          </a:xfrm>
          <a:prstGeom prst="rect">
            <a:avLst/>
          </a:prstGeom>
          <a:solidFill>
            <a:srgbClr val="13131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D864A"/>
                </a:solidFill>
                <a:effectLst/>
                <a:latin typeface="JetBrains Mono"/>
              </a:rPr>
              <a:t>from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selenium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D864A"/>
                </a:solidFill>
                <a:effectLst/>
                <a:latin typeface="JetBrains Mono"/>
              </a:rPr>
              <a:t>import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webdriver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D864A"/>
                </a:solidFill>
                <a:effectLst/>
                <a:latin typeface="JetBrains Mono"/>
              </a:rPr>
              <a:t>from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selenium.webdriver.common.by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D864A"/>
                </a:solidFill>
                <a:effectLst/>
                <a:latin typeface="JetBrains Mono"/>
              </a:rPr>
              <a:t>import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By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D864A"/>
                </a:solidFill>
                <a:effectLst/>
                <a:latin typeface="JetBrains Mono"/>
              </a:rPr>
              <a:t>import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requests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driver=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webdriver.Firefox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()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driver.get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54B33E"/>
                </a:solidFill>
                <a:effectLst/>
                <a:latin typeface="JetBrains Mono"/>
              </a:rPr>
              <a:t>"http://demo.guru99.com/test/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54B33E"/>
                </a:solidFill>
                <a:effectLst/>
                <a:latin typeface="JetBrains Mono"/>
              </a:rPr>
              <a:t>newtours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54B33E"/>
                </a:solidFill>
                <a:effectLst/>
                <a:latin typeface="JetBrains Mono"/>
              </a:rPr>
              <a:t>/"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driver.maximize_window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()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all_links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driver.find_elements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(By.CSS_SELECTOR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ED864A"/>
                </a:solidFill>
                <a:effectLst/>
                <a:latin typeface="JetBrains Mono"/>
              </a:rPr>
              <a:t>,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54B33E"/>
                </a:solidFill>
                <a:effectLst/>
                <a:latin typeface="JetBrains Mono"/>
              </a:rPr>
              <a:t>"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54B33E"/>
                </a:solidFill>
                <a:effectLst/>
                <a:latin typeface="JetBrains Mono"/>
              </a:rPr>
              <a:t>img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54B33E"/>
                </a:solidFill>
                <a:effectLst/>
                <a:latin typeface="JetBrains Mono"/>
              </a:rPr>
              <a:t>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7EC3E6"/>
                </a:solidFill>
                <a:effectLst/>
                <a:latin typeface="JetBrains Mono"/>
              </a:rPr>
              <a:t>#(iterate/loop) check each link if it is broken or not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7EC3E6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D864A"/>
                </a:solidFill>
                <a:effectLst/>
                <a:latin typeface="JetBrains Mono"/>
              </a:rPr>
              <a:t>for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link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D864A"/>
                </a:solidFill>
                <a:effectLst/>
                <a:latin typeface="JetBrains Mono"/>
              </a:rPr>
              <a:t>in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all_links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7EC3E6"/>
                </a:solidFill>
                <a:effectLst/>
                <a:latin typeface="JetBrains Mono"/>
              </a:rPr>
              <a:t>#extract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7EC3E6"/>
                </a:solidFill>
                <a:effectLst/>
                <a:latin typeface="JetBrains Mono"/>
              </a:rPr>
              <a:t>url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7EC3E6"/>
                </a:solidFill>
                <a:effectLst/>
                <a:latin typeface="JetBrains Mono"/>
              </a:rPr>
              <a:t> from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7EC3E6"/>
                </a:solidFill>
                <a:effectLst/>
                <a:latin typeface="JetBrains Mono"/>
              </a:rPr>
              <a:t>href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7EC3E6"/>
                </a:solidFill>
                <a:effectLst/>
                <a:latin typeface="JetBrains Mono"/>
              </a:rPr>
              <a:t> attribute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7EC3E6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7EC3E6"/>
                </a:solidFill>
                <a:effectLst/>
                <a:latin typeface="JetBrains Mono"/>
              </a:rPr>
              <a:t>  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url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link.get_attribute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54B33E"/>
                </a:solidFill>
                <a:effectLst/>
                <a:latin typeface="JetBrains Mono"/>
              </a:rPr>
              <a:t>'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54B33E"/>
                </a:solidFill>
                <a:effectLst/>
                <a:latin typeface="JetBrains Mono"/>
              </a:rPr>
              <a:t>src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54B33E"/>
                </a:solidFill>
                <a:effectLst/>
                <a:latin typeface="JetBrains Mono"/>
              </a:rPr>
              <a:t>'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7EC3E6"/>
                </a:solidFill>
                <a:effectLst/>
                <a:latin typeface="JetBrains Mono"/>
              </a:rPr>
              <a:t>#send request to the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7EC3E6"/>
                </a:solidFill>
                <a:effectLst/>
                <a:latin typeface="JetBrains Mono"/>
              </a:rPr>
              <a:t>url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7EC3E6"/>
                </a:solidFill>
                <a:effectLst/>
                <a:latin typeface="JetBrains Mono"/>
              </a:rPr>
              <a:t> and get the result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7EC3E6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7EC3E6"/>
                </a:solidFill>
                <a:effectLst/>
                <a:latin typeface="JetBrains Mono"/>
              </a:rPr>
              <a:t>  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result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requests.head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url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7EC3E6"/>
                </a:solidFill>
                <a:effectLst/>
                <a:latin typeface="JetBrains Mono"/>
              </a:rPr>
              <a:t>#if status code is not 200 then print the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7EC3E6"/>
                </a:solidFill>
                <a:effectLst/>
                <a:latin typeface="JetBrains Mono"/>
              </a:rPr>
              <a:t>url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7EC3E6"/>
                </a:solidFill>
                <a:effectLst/>
                <a:latin typeface="JetBrains Mono"/>
              </a:rPr>
              <a:t> (customize the if condition according to the need)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7EC3E6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7EC3E6"/>
                </a:solidFill>
                <a:effectLst/>
                <a:latin typeface="JetBrains Mono"/>
              </a:rPr>
              <a:t>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D864A"/>
                </a:solidFill>
                <a:effectLst/>
                <a:latin typeface="JetBrains Mono"/>
              </a:rPr>
              <a:t>if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result.status_code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 !=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3CCFF"/>
                </a:solidFill>
                <a:effectLst/>
                <a:latin typeface="JetBrains Mono"/>
              </a:rPr>
              <a:t>200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url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ED864A"/>
                </a:solidFill>
                <a:effectLst/>
                <a:latin typeface="JetBrains Mono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result.status_code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BEBEB"/>
                </a:solidFill>
                <a:effectLst/>
                <a:latin typeface="JetBrains Mono"/>
              </a:rPr>
              <a:t>)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03035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1C23F-E6A8-6F87-B8F7-837354FF0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91DEF-1931-3C71-3EE3-BBFA31AFF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675" y="536895"/>
            <a:ext cx="10821797" cy="5763237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To create csv file</a:t>
            </a:r>
          </a:p>
          <a:p>
            <a:pPr marL="0" indent="0">
              <a:buNone/>
            </a:pPr>
            <a:r>
              <a:rPr lang="en-IN" dirty="0"/>
              <a:t>import csv 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dirty="0"/>
              <a:t>data = ["Python"</a:t>
            </a:r>
            <a:r>
              <a:rPr lang="en-IN" b="1" dirty="0"/>
              <a:t>, </a:t>
            </a:r>
            <a:r>
              <a:rPr lang="en-IN" dirty="0"/>
              <a:t>"Selenium"</a:t>
            </a:r>
            <a:r>
              <a:rPr lang="en-IN" b="1" dirty="0"/>
              <a:t>, </a:t>
            </a:r>
            <a:r>
              <a:rPr lang="en-IN" dirty="0"/>
              <a:t>"Web Scraping"]</a:t>
            </a:r>
            <a:br>
              <a:rPr lang="en-IN" dirty="0"/>
            </a:br>
            <a:r>
              <a:rPr lang="en-IN" dirty="0"/>
              <a:t>with open("C:\\Users\\manojana\\OneDrive\\Desktop\\testing.csv"</a:t>
            </a:r>
            <a:r>
              <a:rPr lang="en-IN" b="1" dirty="0"/>
              <a:t>, </a:t>
            </a:r>
            <a:r>
              <a:rPr lang="en-IN" dirty="0"/>
              <a:t>"w"</a:t>
            </a:r>
            <a:r>
              <a:rPr lang="en-IN" b="1" dirty="0"/>
              <a:t>, </a:t>
            </a:r>
            <a:r>
              <a:rPr lang="en-IN" dirty="0"/>
              <a:t>newline="") as file:  </a:t>
            </a:r>
            <a:r>
              <a:rPr lang="en-IN" b="1" dirty="0">
                <a:solidFill>
                  <a:srgbClr val="FF0000"/>
                </a:solidFill>
              </a:rPr>
              <a:t>//to create file</a:t>
            </a:r>
            <a:br>
              <a:rPr lang="en-IN" dirty="0"/>
            </a:br>
            <a:r>
              <a:rPr lang="en-IN" dirty="0"/>
              <a:t>    writer = </a:t>
            </a:r>
            <a:r>
              <a:rPr lang="en-IN" dirty="0" err="1"/>
              <a:t>csv.writer</a:t>
            </a:r>
            <a:r>
              <a:rPr lang="en-IN" dirty="0"/>
              <a:t>(file</a:t>
            </a:r>
            <a:r>
              <a:rPr lang="en-IN" b="1" dirty="0">
                <a:solidFill>
                  <a:srgbClr val="FF0000"/>
                </a:solidFill>
              </a:rPr>
              <a:t>)//write a file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writer.writerow</a:t>
            </a:r>
            <a:r>
              <a:rPr lang="en-IN" dirty="0"/>
              <a:t>(["Technology"])//</a:t>
            </a:r>
            <a:r>
              <a:rPr lang="en-IN" b="1" dirty="0">
                <a:solidFill>
                  <a:srgbClr val="FF0000"/>
                </a:solidFill>
              </a:rPr>
              <a:t>column name</a:t>
            </a:r>
            <a:br>
              <a:rPr lang="en-IN" dirty="0"/>
            </a:br>
            <a:r>
              <a:rPr lang="en-IN" dirty="0"/>
              <a:t>    for item in data: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writer.writerow</a:t>
            </a:r>
            <a:r>
              <a:rPr lang="en-IN" dirty="0"/>
              <a:t>([item</a:t>
            </a:r>
            <a:r>
              <a:rPr lang="en-IN" b="1" dirty="0">
                <a:solidFill>
                  <a:srgbClr val="FF0000"/>
                </a:solidFill>
              </a:rPr>
              <a:t>])//writing data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323009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565A6-7841-CB91-A384-AD3597F06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42529-CE9B-2816-4AA2-5D754468B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675" y="536895"/>
            <a:ext cx="10821797" cy="5763237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Challenges in Web Scraping</a:t>
            </a:r>
          </a:p>
          <a:p>
            <a:pPr marL="0" indent="0">
              <a:buNone/>
            </a:pPr>
            <a:r>
              <a:rPr lang="en-IN" dirty="0"/>
              <a:t>Dynamic Website Content</a:t>
            </a:r>
          </a:p>
          <a:p>
            <a:pPr marL="0" indent="0">
              <a:buNone/>
            </a:pPr>
            <a:r>
              <a:rPr lang="en-IN" dirty="0"/>
              <a:t>Website Structure Changes</a:t>
            </a:r>
          </a:p>
          <a:p>
            <a:pPr marL="0" indent="0">
              <a:buNone/>
            </a:pPr>
            <a:r>
              <a:rPr lang="en-IN" dirty="0"/>
              <a:t>CAPTCHA &amp; Anti-Bot Protection</a:t>
            </a:r>
          </a:p>
          <a:p>
            <a:pPr marL="0" indent="0">
              <a:buNone/>
            </a:pPr>
            <a:r>
              <a:rPr lang="en-IN" dirty="0"/>
              <a:t>Login &amp; Authentication</a:t>
            </a:r>
          </a:p>
          <a:p>
            <a:pPr marL="0" indent="0">
              <a:buNone/>
            </a:pPr>
            <a:r>
              <a:rPr lang="en-IN" dirty="0"/>
              <a:t>IP Blocking &amp; Rate Limiting</a:t>
            </a:r>
          </a:p>
          <a:p>
            <a:pPr marL="0" indent="0">
              <a:buNone/>
            </a:pPr>
            <a:r>
              <a:rPr lang="en-IN" dirty="0"/>
              <a:t>Data Quality Issues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53451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56A14-03F2-1A7F-C3BB-F5C49F944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6CD1F-8492-0BD5-91C0-F3B9D46C8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675" y="536895"/>
            <a:ext cx="10821797" cy="5763237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How to collect data from real time websites</a:t>
            </a:r>
          </a:p>
          <a:p>
            <a:pPr marL="0" indent="0">
              <a:buNone/>
            </a:pPr>
            <a:r>
              <a:rPr lang="en-IN" dirty="0"/>
              <a:t>If I use linked in</a:t>
            </a:r>
          </a:p>
          <a:p>
            <a:r>
              <a:rPr lang="en-US" b="1" dirty="0"/>
              <a:t>Data Extracted</a:t>
            </a:r>
          </a:p>
          <a:p>
            <a:r>
              <a:rPr lang="en-US" dirty="0"/>
              <a:t>Job Title</a:t>
            </a:r>
          </a:p>
          <a:p>
            <a:r>
              <a:rPr lang="en-US" dirty="0"/>
              <a:t>Company Name</a:t>
            </a:r>
          </a:p>
          <a:p>
            <a:r>
              <a:rPr lang="en-US" dirty="0"/>
              <a:t>Location</a:t>
            </a:r>
          </a:p>
          <a:p>
            <a:r>
              <a:rPr lang="en-US" dirty="0"/>
              <a:t>Required Skills</a:t>
            </a:r>
          </a:p>
          <a:p>
            <a:r>
              <a:rPr lang="en-US" dirty="0"/>
              <a:t>Experience Level</a:t>
            </a:r>
          </a:p>
          <a:p>
            <a:r>
              <a:rPr lang="en-US" dirty="0"/>
              <a:t>Job Link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87475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CB32C-4694-35E5-B1E7-E5C241B00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5B501-E420-3D77-6C33-AD0B7CE50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675" y="536895"/>
            <a:ext cx="10821797" cy="5763237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Tools &amp; Technologies</a:t>
            </a:r>
          </a:p>
          <a:p>
            <a:r>
              <a:rPr lang="en-IN" dirty="0"/>
              <a:t>Python</a:t>
            </a:r>
          </a:p>
          <a:p>
            <a:r>
              <a:rPr lang="en-IN" dirty="0"/>
              <a:t>Selenium WebDriver</a:t>
            </a:r>
          </a:p>
          <a:p>
            <a:r>
              <a:rPr lang="en-IN" dirty="0"/>
              <a:t>Chrome Browser</a:t>
            </a:r>
          </a:p>
          <a:p>
            <a:r>
              <a:rPr lang="en-IN" dirty="0"/>
              <a:t>CSV File Storage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30255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4809D-E92B-30BF-BECB-E517EA97D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13B79-7698-DAC7-2916-C236DDE16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675" y="536895"/>
            <a:ext cx="10821797" cy="5763237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Project Workflow</a:t>
            </a:r>
          </a:p>
          <a:p>
            <a:pPr marL="0" indent="0">
              <a:buNone/>
            </a:pPr>
            <a:r>
              <a:rPr lang="en-US" dirty="0"/>
              <a:t>1. Open job website</a:t>
            </a:r>
          </a:p>
          <a:p>
            <a:pPr marL="0" indent="0">
              <a:buNone/>
            </a:pPr>
            <a:r>
              <a:rPr lang="en-US" dirty="0"/>
              <a:t>2. Search for "Python Developer"</a:t>
            </a:r>
          </a:p>
          <a:p>
            <a:pPr marL="0" indent="0">
              <a:buNone/>
            </a:pPr>
            <a:r>
              <a:rPr lang="en-US" dirty="0"/>
              <a:t>3. Scroll job listings</a:t>
            </a:r>
          </a:p>
          <a:p>
            <a:pPr marL="0" indent="0">
              <a:buNone/>
            </a:pPr>
            <a:r>
              <a:rPr lang="en-US" dirty="0"/>
              <a:t>4. Extract job details</a:t>
            </a:r>
          </a:p>
          <a:p>
            <a:pPr marL="0" indent="0">
              <a:buNone/>
            </a:pPr>
            <a:r>
              <a:rPr lang="en-US" dirty="0"/>
              <a:t>5. Store data into CSV file</a:t>
            </a:r>
          </a:p>
          <a:p>
            <a:pPr marL="0" indent="0">
              <a:buNone/>
            </a:pPr>
            <a:r>
              <a:rPr lang="en-US" dirty="0"/>
              <a:t>6. Close browser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6552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25CA0-E86B-D9B4-C584-46E786AB3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E2408-9567-C5D1-647E-1B881AE30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675" y="536895"/>
            <a:ext cx="10821797" cy="576323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Web Scraping Architecture</a:t>
            </a:r>
          </a:p>
          <a:p>
            <a:pPr marL="0" indent="0">
              <a:buNone/>
            </a:pPr>
            <a:r>
              <a:rPr lang="en-IN" dirty="0"/>
              <a:t>User Script (Python)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Selenium WebDriver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Browser Driver (</a:t>
            </a:r>
            <a:r>
              <a:rPr lang="en-IN" dirty="0" err="1"/>
              <a:t>ChromeDriver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Web Browser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Website Server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HTML Data Returned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Data Extraction &amp; Storage</a:t>
            </a:r>
          </a:p>
        </p:txBody>
      </p:sp>
    </p:spTree>
    <p:extLst>
      <p:ext uri="{BB962C8B-B14F-4D97-AF65-F5344CB8AC3E}">
        <p14:creationId xmlns:p14="http://schemas.microsoft.com/office/powerpoint/2010/main" val="33075383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E1424-2B23-34CC-F1BC-A6C934F55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4024E-4DC4-428A-AFAE-7624FE03F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675" y="536895"/>
            <a:ext cx="10821797" cy="576323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/>
              <a:t>Login Automation using Selenium</a:t>
            </a:r>
          </a:p>
          <a:p>
            <a:pPr>
              <a:lnSpc>
                <a:spcPct val="150000"/>
              </a:lnSpc>
            </a:pPr>
            <a:r>
              <a:rPr lang="en-US" dirty="0"/>
              <a:t>Automates user authentication process</a:t>
            </a:r>
          </a:p>
          <a:p>
            <a:pPr>
              <a:lnSpc>
                <a:spcPct val="150000"/>
              </a:lnSpc>
            </a:pPr>
            <a:r>
              <a:rPr lang="en-US" dirty="0"/>
              <a:t>Enters username and password automatically</a:t>
            </a:r>
          </a:p>
          <a:p>
            <a:pPr>
              <a:lnSpc>
                <a:spcPct val="150000"/>
              </a:lnSpc>
            </a:pPr>
            <a:r>
              <a:rPr lang="en-US" dirty="0"/>
              <a:t>Handles secured web pages</a:t>
            </a:r>
          </a:p>
          <a:p>
            <a:pPr>
              <a:lnSpc>
                <a:spcPct val="150000"/>
              </a:lnSpc>
            </a:pPr>
            <a:r>
              <a:rPr lang="en-US" dirty="0"/>
              <a:t>Maintains session after login</a:t>
            </a:r>
          </a:p>
          <a:p>
            <a:pPr>
              <a:lnSpc>
                <a:spcPct val="150000"/>
              </a:lnSpc>
            </a:pPr>
            <a:r>
              <a:rPr lang="en-US" dirty="0"/>
              <a:t>Enables scraping of protected data</a:t>
            </a:r>
          </a:p>
          <a:p>
            <a:pPr>
              <a:lnSpc>
                <a:spcPct val="150000"/>
              </a:lnSpc>
            </a:pPr>
            <a:r>
              <a:rPr lang="en-US" dirty="0"/>
              <a:t>Used in job portals like Naukri.com.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079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CA551-6A34-7158-8493-71DBDA567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E2D39-F4D4-5AA9-A779-A3CCF542F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675" y="536895"/>
            <a:ext cx="10821797" cy="576323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/>
              <a:t>Data Extraction Process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Elements identified using locators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.text extracts visible data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Loops collect multiple records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Data stored for analysis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51655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A6460-7851-ECE3-0E9A-FBD9F8946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3AFED-EC7A-7D78-DDEE-F14BF7C4A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675" y="536895"/>
            <a:ext cx="10821797" cy="576323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Role of CSV in Web Scraping</a:t>
            </a:r>
          </a:p>
          <a:p>
            <a:pPr marL="0" indent="0">
              <a:buNone/>
            </a:pPr>
            <a:r>
              <a:rPr lang="en-US" b="1" dirty="0"/>
              <a:t>Why CSV is Used in Web Scraping</a:t>
            </a:r>
            <a:endParaRPr lang="en-US" dirty="0"/>
          </a:p>
          <a:p>
            <a:r>
              <a:rPr lang="en-US" dirty="0"/>
              <a:t>Lightweight file format</a:t>
            </a:r>
          </a:p>
          <a:p>
            <a:r>
              <a:rPr lang="en-US" dirty="0"/>
              <a:t>Easy to open in Excel</a:t>
            </a:r>
          </a:p>
          <a:p>
            <a:r>
              <a:rPr lang="en-US" dirty="0"/>
              <a:t>Stores structured data</a:t>
            </a:r>
          </a:p>
          <a:p>
            <a:r>
              <a:rPr lang="en-US" dirty="0"/>
              <a:t>Suitable for large datasets</a:t>
            </a:r>
          </a:p>
          <a:p>
            <a:r>
              <a:rPr lang="en-US" dirty="0"/>
              <a:t>Supports data analysis tools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32329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E5D77-17AF-4C3A-1E10-C11A2493E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DF25E-A953-B94E-68B3-3075EC49B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675" y="536895"/>
            <a:ext cx="10821797" cy="5763237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Limitations of Selenium</a:t>
            </a:r>
          </a:p>
          <a:p>
            <a:pPr marL="0" indent="0">
              <a:buNone/>
            </a:pPr>
            <a:r>
              <a:rPr lang="en-IN" dirty="0"/>
              <a:t>Slower than API scraping</a:t>
            </a:r>
          </a:p>
          <a:p>
            <a:pPr marL="0" indent="0">
              <a:buNone/>
            </a:pPr>
            <a:r>
              <a:rPr lang="en-IN" dirty="0"/>
              <a:t>Requires browser installation</a:t>
            </a:r>
          </a:p>
          <a:p>
            <a:pPr marL="0" indent="0">
              <a:buNone/>
            </a:pPr>
            <a:r>
              <a:rPr lang="en-IN" dirty="0"/>
              <a:t>High memory usage</a:t>
            </a:r>
          </a:p>
          <a:p>
            <a:pPr marL="0" indent="0">
              <a:buNone/>
            </a:pPr>
            <a:r>
              <a:rPr lang="en-IN" dirty="0"/>
              <a:t>Website layout changes break scripts</a:t>
            </a:r>
          </a:p>
          <a:p>
            <a:pPr marL="0" indent="0">
              <a:buNone/>
            </a:pPr>
            <a:r>
              <a:rPr lang="en-IN" dirty="0"/>
              <a:t>CAPTCHA handling is difficult</a:t>
            </a:r>
          </a:p>
        </p:txBody>
      </p:sp>
    </p:spTree>
    <p:extLst>
      <p:ext uri="{BB962C8B-B14F-4D97-AF65-F5344CB8AC3E}">
        <p14:creationId xmlns:p14="http://schemas.microsoft.com/office/powerpoint/2010/main" val="26729121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4B0C1-53AC-E5A0-6731-A7DCBBDBE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6D52A-6173-52E3-3387-0D2DF1910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675" y="536895"/>
            <a:ext cx="10821797" cy="576323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1907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1056</TotalTime>
  <Words>2853</Words>
  <Application>Microsoft Office PowerPoint</Application>
  <PresentationFormat>Widescreen</PresentationFormat>
  <Paragraphs>327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0" baseType="lpstr">
      <vt:lpstr>Arial</vt:lpstr>
      <vt:lpstr>Calibri</vt:lpstr>
      <vt:lpstr>Calibri Light</vt:lpstr>
      <vt:lpstr>JetBrains Mono</vt:lpstr>
      <vt:lpstr>source-sans-pro</vt:lpstr>
      <vt:lpstr>Office Theme</vt:lpstr>
      <vt:lpstr>Automation Testing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Selenium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Web Scraping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Sasikumar Janarthanan</dc:creator>
  <cp:lastModifiedBy>Sasikumar Janarthanan</cp:lastModifiedBy>
  <cp:revision>10</cp:revision>
  <dcterms:created xsi:type="dcterms:W3CDTF">2026-02-11T11:01:21Z</dcterms:created>
  <dcterms:modified xsi:type="dcterms:W3CDTF">2026-02-28T11:41:55Z</dcterms:modified>
</cp:coreProperties>
</file>